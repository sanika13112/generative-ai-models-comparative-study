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26A51D-C940-262B-46EB-4247A1542CCE}">
          <p14:sldIdLst>
            <p14:sldId id="256"/>
          </p14:sldIdLst>
        </p14:section>
        <p14:section name="Comparative Study" id="{F4EA64D8-C125-9428-0D48-60E888B5FCD9}">
          <p14:sldIdLst>
            <p14:sldId id="257"/>
            <p14:sldId id="258"/>
          </p14:sldIdLst>
        </p14:section>
        <p14:section name="Practical Results" id="{29B2B88A-73BD-DC72-D665-219FFE8772EB}">
          <p14:sldIdLst>
            <p14:sldId id="259"/>
            <p14:sldId id="260"/>
            <p14:sldId id="261"/>
          </p14:sldIdLst>
        </p14:section>
        <p14:section name="Reflection" id="{C0F12028-FE20-CE8C-C5B0-CDA64B08447B}">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F5F6FB"/>
                </a:solidFill>
                <a:latin typeface="+mn-lt"/>
              </a:defRPr>
            </a:pPr>
            <a:r>
              <a:rPr lang="en-IN" sz="1600" b="0" i="0" u="none" strike="noStrike">
                <a:solidFill>
                  <a:srgbClr val="F5F6FB"/>
                </a:solidFill>
                <a:latin typeface="+mn-lt"/>
              </a:rPr>
              <a:t>Recorded time (seconds)</a:t>
            </a:r>
          </a:p>
        </c:rich>
      </c:tx>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8B5CF6"/>
            </a:solidFill>
            <a:effectLst/>
          </c:spPr>
          <c:invertIfNegative val="0"/>
          <c:dPt>
            <c:idx val="0"/>
            <c:invertIfNegative val="0"/>
            <c:bubble3D val="0"/>
            <c:spPr>
              <a:solidFill>
                <a:srgbClr val="8B5CF6"/>
              </a:solidFill>
              <a:effectLst/>
            </c:spPr>
            <c:extLst>
              <c:ext xmlns:c16="http://schemas.microsoft.com/office/drawing/2014/chart" uri="{C3380CC4-5D6E-409C-BE32-E72D297353CC}">
                <c16:uniqueId val="{00000001-0DD4-4A59-AEE8-F6FE577A347B}"/>
              </c:ext>
            </c:extLst>
          </c:dPt>
          <c:dPt>
            <c:idx val="1"/>
            <c:invertIfNegative val="0"/>
            <c:bubble3D val="0"/>
            <c:spPr>
              <a:solidFill>
                <a:srgbClr val="8B5CF6"/>
              </a:solidFill>
              <a:effectLst/>
            </c:spPr>
            <c:extLst>
              <c:ext xmlns:c16="http://schemas.microsoft.com/office/drawing/2014/chart" uri="{C3380CC4-5D6E-409C-BE32-E72D297353CC}">
                <c16:uniqueId val="{00000003-0DD4-4A59-AEE8-F6FE577A347B}"/>
              </c:ext>
            </c:extLst>
          </c:dPt>
          <c:dPt>
            <c:idx val="2"/>
            <c:invertIfNegative val="0"/>
            <c:bubble3D val="0"/>
            <c:spPr>
              <a:solidFill>
                <a:srgbClr val="22D3EE"/>
              </a:solidFill>
              <a:effectLst/>
            </c:spPr>
            <c:extLst>
              <c:ext xmlns:c16="http://schemas.microsoft.com/office/drawing/2014/chart" uri="{C3380CC4-5D6E-409C-BE32-E72D297353CC}">
                <c16:uniqueId val="{00000005-0DD4-4A59-AEE8-F6FE577A347B}"/>
              </c:ext>
            </c:extLst>
          </c:dPt>
          <c:dPt>
            <c:idx val="3"/>
            <c:invertIfNegative val="0"/>
            <c:bubble3D val="0"/>
            <c:spPr>
              <a:solidFill>
                <a:srgbClr val="FBBF24"/>
              </a:solidFill>
              <a:effectLst/>
            </c:spPr>
            <c:extLst>
              <c:ext xmlns:c16="http://schemas.microsoft.com/office/drawing/2014/chart" uri="{C3380CC4-5D6E-409C-BE32-E72D297353CC}">
                <c16:uniqueId val="{00000007-0DD4-4A59-AEE8-F6FE577A347B}"/>
              </c:ext>
            </c:extLst>
          </c:dPt>
          <c:dLbls>
            <c:numFmt formatCode="0.0#" sourceLinked="0"/>
            <c:spPr>
              <a:noFill/>
              <a:ln>
                <a:noFill/>
              </a:ln>
              <a:effectLst/>
            </c:spPr>
            <c:txPr>
              <a:bodyPr/>
              <a:lstStyle/>
              <a:p>
                <a:pPr>
                  <a:defRPr sz="1400" b="1" i="0" u="none" strike="noStrike">
                    <a:solidFill>
                      <a:srgbClr val="F5F6F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AE train</c:v>
                </c:pt>
                <c:pt idx="1">
                  <c:v>VAE train</c:v>
                </c:pt>
                <c:pt idx="2">
                  <c:v>DCGAN train</c:v>
                </c:pt>
                <c:pt idx="3">
                  <c:v>Diffusion infer</c:v>
                </c:pt>
              </c:strCache>
            </c:strRef>
          </c:cat>
          <c:val>
            <c:numRef>
              <c:f>Sheet1!$B$2:$B$5</c:f>
              <c:numCache>
                <c:formatCode>General</c:formatCode>
                <c:ptCount val="4"/>
                <c:pt idx="0">
                  <c:v>31.1</c:v>
                </c:pt>
                <c:pt idx="1">
                  <c:v>20.5</c:v>
                </c:pt>
                <c:pt idx="2">
                  <c:v>333.6</c:v>
                </c:pt>
                <c:pt idx="3">
                  <c:v>3.34</c:v>
                </c:pt>
              </c:numCache>
            </c:numRef>
          </c:val>
          <c:extLst>
            <c:ext xmlns:c16="http://schemas.microsoft.com/office/drawing/2014/chart" uri="{C3380CC4-5D6E-409C-BE32-E72D297353CC}">
              <c16:uniqueId val="{00000008-0DD4-4A59-AEE8-F6FE577A347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F3563"/>
            </a:solidFill>
            <a:prstDash val="solid"/>
            <a:round/>
          </a:ln>
        </c:spPr>
        <c:txPr>
          <a:bodyPr/>
          <a:lstStyle/>
          <a:p>
            <a:pPr>
              <a:defRPr sz="1300" b="0" i="0" u="none" strike="noStrike">
                <a:solidFill>
                  <a:srgbClr val="A7ACC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F356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A7ACC8"/>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409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Our question: how do generative models differ when they reconstruct an image versus create a new one? We compared an Autoencoder and VAE for reconstruction (CO3), and DCGAN and a pretrained diffusion model for generation (CO4), using 3,000 LFW face images at 64×64 in Google Colab. Every face on this slide was generated by AI: the large one by the diffusion model, the small ones by our DCGAN.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models reconstruct and two generate. AE compresses an image to 128 numbers and rebuilds it: stable but blurry. VAE learns a distribution so we can sample new faces, but outputs are softer. DCGAN pits a generator against a discriminator: new, sharper images but unstable training. Diffusion removes noise step by step guided by a prompt: best quality, highest compute.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each model. The Autoencoder funnels the image down to 128 numbers and back up; the output is the actual blurry reconstruction we got. The VAE splits the bottleneck into a mean and a spread, samples z from it, then decodes, which gives the even smoother face. DCGAN turns random noise into a fake face through the generator, and the discriminator compares fakes with real LFW faces. Diffusion starts from pure noise and removes it over 20 U-Net steps, guided by the text prompt.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A. Zooming in on one test face makes the difference obvious: the Autoencoder keeps her pose, hair colour and red jacket, but blurs the face. The VAE output is smoother still and looks like an average face, because the KL term organises the latent space. AE validation MSE dropped 74% to 0.0144 in 10 epochs (31 s); the VAE took 20.5 s. Neither shows heavy distortion; the main difference is loss of detail.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B. Our DCGAN trained for 30 epochs and creates new faces, though at 64×64 with colour noise. Its discriminator loss settled near ln 4, meaning the two networks were evenly matched. The pretrained diffusion model produced a realistic portrait in 3.34 seconds from our prompt, but it was pretrained on far more data, so it is not a like-for-like comparison.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DCGAN took 333.6 seconds, over ten times the AE and VAE, because it trains two networks every step for 30 epochs. The diffusion bar is inference only. The table shows why we did not rank the models by loss: MSE is averaged per pixel, the VAE loss is summed over pixels plus KL, and GAN losses only describe the two networks against each other.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Claude to understand concepts, explain the notebook and structure the report, and verified every number against the notebook output and the original papers. Key learnings: AE keeps detail while VAE organises the latent space; GAN losses do not show image quality; diffusion gives the best results at the highest cost. Each member then states their contribution.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hyperlink" Target="https://colab.research.google.com/drive/1t1PBKGPbLAadVUDPFQuYTkzCqsJB8EHi?usp=sharing"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6.png"/><Relationship Id="rId12"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9.png"/><Relationship Id="rId7"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osaic-diff" descr="Portrait generated by the diffusion model"/>
          <p:cNvPicPr>
            <a:picLocks noChangeAspect="1"/>
          </p:cNvPicPr>
          <p:nvPr/>
        </p:nvPicPr>
        <p:blipFill>
          <a:blip r:embed="rId3"/>
          <a:stretch>
            <a:fillRect/>
          </a:stretch>
        </p:blipFill>
        <p:spPr>
          <a:xfrm>
            <a:off x="6720840" y="548640"/>
            <a:ext cx="3611880" cy="3611880"/>
          </a:xfrm>
          <a:prstGeom prst="rect">
            <a:avLst/>
          </a:prstGeom>
        </p:spPr>
      </p:pic>
      <p:pic>
        <p:nvPicPr>
          <p:cNvPr id="3" name="mosaic-gan0" descr="DCGAN generated face"/>
          <p:cNvPicPr>
            <a:picLocks noChangeAspect="1"/>
          </p:cNvPicPr>
          <p:nvPr/>
        </p:nvPicPr>
        <p:blipFill>
          <a:blip r:embed="rId4"/>
          <a:stretch>
            <a:fillRect/>
          </a:stretch>
        </p:blipFill>
        <p:spPr>
          <a:xfrm>
            <a:off x="10469880" y="548640"/>
            <a:ext cx="868680" cy="868680"/>
          </a:xfrm>
          <a:prstGeom prst="rect">
            <a:avLst/>
          </a:prstGeom>
        </p:spPr>
      </p:pic>
      <p:pic>
        <p:nvPicPr>
          <p:cNvPr id="4" name="mosaic-gan1" descr="DCGAN generated face"/>
          <p:cNvPicPr>
            <a:picLocks noChangeAspect="1"/>
          </p:cNvPicPr>
          <p:nvPr/>
        </p:nvPicPr>
        <p:blipFill>
          <a:blip r:embed="rId5"/>
          <a:stretch>
            <a:fillRect/>
          </a:stretch>
        </p:blipFill>
        <p:spPr>
          <a:xfrm>
            <a:off x="10469880" y="1463040"/>
            <a:ext cx="868680" cy="868680"/>
          </a:xfrm>
          <a:prstGeom prst="rect">
            <a:avLst/>
          </a:prstGeom>
        </p:spPr>
      </p:pic>
      <p:pic>
        <p:nvPicPr>
          <p:cNvPr id="5" name="mosaic-gan2" descr="DCGAN generated face"/>
          <p:cNvPicPr>
            <a:picLocks noChangeAspect="1"/>
          </p:cNvPicPr>
          <p:nvPr/>
        </p:nvPicPr>
        <p:blipFill>
          <a:blip r:embed="rId6"/>
          <a:stretch>
            <a:fillRect/>
          </a:stretch>
        </p:blipFill>
        <p:spPr>
          <a:xfrm>
            <a:off x="10469880" y="2377440"/>
            <a:ext cx="868680" cy="868680"/>
          </a:xfrm>
          <a:prstGeom prst="rect">
            <a:avLst/>
          </a:prstGeom>
        </p:spPr>
      </p:pic>
      <p:pic>
        <p:nvPicPr>
          <p:cNvPr id="6" name="mosaic-gan3" descr="DCGAN generated face"/>
          <p:cNvPicPr>
            <a:picLocks noChangeAspect="1"/>
          </p:cNvPicPr>
          <p:nvPr/>
        </p:nvPicPr>
        <p:blipFill>
          <a:blip r:embed="rId7"/>
          <a:stretch>
            <a:fillRect/>
          </a:stretch>
        </p:blipFill>
        <p:spPr>
          <a:xfrm>
            <a:off x="10469880" y="3291840"/>
            <a:ext cx="868680" cy="868680"/>
          </a:xfrm>
          <a:prstGeom prst="rect">
            <a:avLst/>
          </a:prstGeom>
        </p:spPr>
      </p:pic>
      <p:pic>
        <p:nvPicPr>
          <p:cNvPr id="7" name="mosaic-ganb0" descr="DCGAN generated face"/>
          <p:cNvPicPr>
            <a:picLocks noChangeAspect="1"/>
          </p:cNvPicPr>
          <p:nvPr/>
        </p:nvPicPr>
        <p:blipFill>
          <a:blip r:embed="rId8"/>
          <a:stretch>
            <a:fillRect/>
          </a:stretch>
        </p:blipFill>
        <p:spPr>
          <a:xfrm>
            <a:off x="6720840" y="4297680"/>
            <a:ext cx="1088136" cy="1088136"/>
          </a:xfrm>
          <a:prstGeom prst="rect">
            <a:avLst/>
          </a:prstGeom>
        </p:spPr>
      </p:pic>
      <p:pic>
        <p:nvPicPr>
          <p:cNvPr id="8" name="mosaic-ganb1" descr="DCGAN generated face"/>
          <p:cNvPicPr>
            <a:picLocks noChangeAspect="1"/>
          </p:cNvPicPr>
          <p:nvPr/>
        </p:nvPicPr>
        <p:blipFill>
          <a:blip r:embed="rId9"/>
          <a:stretch>
            <a:fillRect/>
          </a:stretch>
        </p:blipFill>
        <p:spPr>
          <a:xfrm>
            <a:off x="7900416" y="4297680"/>
            <a:ext cx="1088136" cy="1088136"/>
          </a:xfrm>
          <a:prstGeom prst="rect">
            <a:avLst/>
          </a:prstGeom>
        </p:spPr>
      </p:pic>
      <p:pic>
        <p:nvPicPr>
          <p:cNvPr id="9" name="mosaic-ganb2" descr="DCGAN generated face"/>
          <p:cNvPicPr>
            <a:picLocks noChangeAspect="1"/>
          </p:cNvPicPr>
          <p:nvPr/>
        </p:nvPicPr>
        <p:blipFill>
          <a:blip r:embed="rId10"/>
          <a:stretch>
            <a:fillRect/>
          </a:stretch>
        </p:blipFill>
        <p:spPr>
          <a:xfrm>
            <a:off x="9079992" y="4297680"/>
            <a:ext cx="1088136" cy="1088136"/>
          </a:xfrm>
          <a:prstGeom prst="rect">
            <a:avLst/>
          </a:prstGeom>
        </p:spPr>
      </p:pic>
      <p:pic>
        <p:nvPicPr>
          <p:cNvPr id="10" name="mosaic-ganb3" descr="DCGAN generated face"/>
          <p:cNvPicPr>
            <a:picLocks noChangeAspect="1"/>
          </p:cNvPicPr>
          <p:nvPr/>
        </p:nvPicPr>
        <p:blipFill>
          <a:blip r:embed="rId11"/>
          <a:stretch>
            <a:fillRect/>
          </a:stretch>
        </p:blipFill>
        <p:spPr>
          <a:xfrm>
            <a:off x="10259568" y="4297680"/>
            <a:ext cx="1088136" cy="1088136"/>
          </a:xfrm>
          <a:prstGeom prst="rect">
            <a:avLst/>
          </a:prstGeom>
        </p:spPr>
      </p:pic>
      <p:sp>
        <p:nvSpPr>
          <p:cNvPr id="11" name="mosaic-cap"/>
          <p:cNvSpPr txBox="1"/>
          <p:nvPr/>
        </p:nvSpPr>
        <p:spPr>
          <a:xfrm>
            <a:off x="6720840" y="5532120"/>
            <a:ext cx="4663440" cy="274320"/>
          </a:xfrm>
          <a:prstGeom prst="rect">
            <a:avLst/>
          </a:prstGeom>
          <a:noFill/>
          <a:ln/>
        </p:spPr>
        <p:txBody>
          <a:bodyPr wrap="square" lIns="0" tIns="0" rIns="0" bIns="0" rtlCol="0" anchor="ctr"/>
          <a:lstStyle/>
          <a:p>
            <a:pPr marL="0" indent="0">
              <a:buNone/>
            </a:pPr>
            <a:r>
              <a:rPr lang="en-US" sz="1100" i="1" dirty="0">
                <a:solidFill>
                  <a:srgbClr val="A7ACC8"/>
                </a:solidFill>
              </a:rPr>
              <a:t>All faces on this slide are AI-generated (diffusion + our DCGAN)</a:t>
            </a:r>
            <a:endParaRPr lang="en-US" sz="1100" dirty="0"/>
          </a:p>
        </p:txBody>
      </p:sp>
      <p:sp>
        <p:nvSpPr>
          <p:cNvPr id="12" name="tag-bg"/>
          <p:cNvSpPr/>
          <p:nvPr/>
        </p:nvSpPr>
        <p:spPr>
          <a:xfrm>
            <a:off x="548640" y="822960"/>
            <a:ext cx="2743200" cy="329184"/>
          </a:xfrm>
          <a:prstGeom prst="roundRect">
            <a:avLst>
              <a:gd name="adj" fmla="val 50000"/>
            </a:avLst>
          </a:prstGeom>
          <a:solidFill>
            <a:srgbClr val="262B52"/>
          </a:solidFill>
          <a:ln w="12700">
            <a:solidFill>
              <a:srgbClr val="262B52"/>
            </a:solidFill>
            <a:prstDash val="solid"/>
          </a:ln>
        </p:spPr>
      </p:sp>
      <p:sp>
        <p:nvSpPr>
          <p:cNvPr id="13" name="tag"/>
          <p:cNvSpPr txBox="1"/>
          <p:nvPr/>
        </p:nvSpPr>
        <p:spPr>
          <a:xfrm>
            <a:off x="548640" y="822960"/>
            <a:ext cx="2743200" cy="329184"/>
          </a:xfrm>
          <a:prstGeom prst="rect">
            <a:avLst/>
          </a:prstGeom>
          <a:noFill/>
          <a:ln/>
        </p:spPr>
        <p:txBody>
          <a:bodyPr wrap="square" lIns="0" tIns="0" rIns="0" bIns="0" rtlCol="0" anchor="ctr"/>
          <a:lstStyle/>
          <a:p>
            <a:pPr marL="0" indent="0" algn="ctr">
              <a:buNone/>
            </a:pPr>
            <a:r>
              <a:rPr lang="en-US" sz="1200" b="1" dirty="0">
                <a:solidFill>
                  <a:srgbClr val="67E8F9"/>
                </a:solidFill>
              </a:rPr>
              <a:t>ASSIGNMENT 02  ·  CO3 + CO4</a:t>
            </a:r>
            <a:endParaRPr lang="en-US" sz="1200" dirty="0"/>
          </a:p>
        </p:txBody>
      </p:sp>
      <p:sp>
        <p:nvSpPr>
          <p:cNvPr id="14" name="cover-title"/>
          <p:cNvSpPr txBox="1"/>
          <p:nvPr/>
        </p:nvSpPr>
        <p:spPr>
          <a:xfrm>
            <a:off x="548640" y="1417320"/>
            <a:ext cx="5943600" cy="822960"/>
          </a:xfrm>
          <a:prstGeom prst="rect">
            <a:avLst/>
          </a:prstGeom>
          <a:noFill/>
          <a:ln/>
        </p:spPr>
        <p:txBody>
          <a:bodyPr wrap="square" lIns="0" tIns="0" rIns="0" bIns="0" rtlCol="0" anchor="ctr"/>
          <a:lstStyle/>
          <a:p>
            <a:pPr marL="0" indent="0">
              <a:buNone/>
            </a:pPr>
            <a:r>
              <a:rPr lang="en-US" sz="4400" b="1" dirty="0">
                <a:solidFill>
                  <a:srgbClr val="F5F6FB"/>
                </a:solidFill>
                <a:latin typeface="Cambria" pitchFamily="34" charset="0"/>
                <a:ea typeface="Cambria" pitchFamily="34" charset="-122"/>
                <a:cs typeface="Cambria" pitchFamily="34" charset="-120"/>
              </a:rPr>
              <a:t>Reconstruct or Create?</a:t>
            </a:r>
            <a:endParaRPr lang="en-US" sz="4400" dirty="0"/>
          </a:p>
        </p:txBody>
      </p:sp>
      <p:sp>
        <p:nvSpPr>
          <p:cNvPr id="15" name="cover-sub"/>
          <p:cNvSpPr txBox="1"/>
          <p:nvPr/>
        </p:nvSpPr>
        <p:spPr>
          <a:xfrm>
            <a:off x="548640" y="2240280"/>
            <a:ext cx="5943600" cy="548640"/>
          </a:xfrm>
          <a:prstGeom prst="rect">
            <a:avLst/>
          </a:prstGeom>
          <a:noFill/>
          <a:ln/>
        </p:spPr>
        <p:txBody>
          <a:bodyPr wrap="square" lIns="0" tIns="0" rIns="0" bIns="0" rtlCol="0" anchor="ctr"/>
          <a:lstStyle/>
          <a:p>
            <a:pPr marL="0" indent="0">
              <a:buNone/>
            </a:pPr>
            <a:r>
              <a:rPr lang="en-US" sz="2200" dirty="0">
                <a:solidFill>
                  <a:srgbClr val="C4B5FD"/>
                </a:solidFill>
              </a:rPr>
              <a:t>A comparative study of four Generative AI models</a:t>
            </a:r>
            <a:endParaRPr lang="en-US" sz="2200" dirty="0"/>
          </a:p>
        </p:txBody>
      </p:sp>
      <p:sp>
        <p:nvSpPr>
          <p:cNvPr id="16" name="cover-models"/>
          <p:cNvSpPr txBox="1"/>
          <p:nvPr/>
        </p:nvSpPr>
        <p:spPr>
          <a:xfrm>
            <a:off x="548640" y="2971800"/>
            <a:ext cx="5943600" cy="411480"/>
          </a:xfrm>
          <a:prstGeom prst="rect">
            <a:avLst/>
          </a:prstGeom>
          <a:noFill/>
          <a:ln/>
        </p:spPr>
        <p:txBody>
          <a:bodyPr wrap="square" lIns="0" tIns="0" rIns="0" bIns="0" rtlCol="0" anchor="ctr"/>
          <a:lstStyle/>
          <a:p>
            <a:pPr marL="0" indent="0">
              <a:buNone/>
            </a:pPr>
            <a:r>
              <a:rPr lang="en-US" sz="1800" b="1" dirty="0">
                <a:solidFill>
                  <a:srgbClr val="C4B5FD"/>
                </a:solidFill>
              </a:rPr>
              <a:t>Autoencoder</a:t>
            </a:r>
            <a:r>
              <a:rPr lang="en-US" sz="1800" dirty="0">
                <a:solidFill>
                  <a:srgbClr val="A7ACC8"/>
                </a:solidFill>
              </a:rPr>
              <a:t>  ·  </a:t>
            </a:r>
            <a:r>
              <a:rPr lang="en-US" sz="1800" b="1" dirty="0">
                <a:solidFill>
                  <a:srgbClr val="C4B5FD"/>
                </a:solidFill>
              </a:rPr>
              <a:t>VAE</a:t>
            </a:r>
            <a:r>
              <a:rPr lang="en-US" sz="1800" dirty="0">
                <a:solidFill>
                  <a:srgbClr val="A7ACC8"/>
                </a:solidFill>
              </a:rPr>
              <a:t>  ·  </a:t>
            </a:r>
            <a:r>
              <a:rPr lang="en-US" sz="1800" b="1" dirty="0">
                <a:solidFill>
                  <a:srgbClr val="67E8F9"/>
                </a:solidFill>
              </a:rPr>
              <a:t>DCGAN</a:t>
            </a:r>
            <a:r>
              <a:rPr lang="en-US" sz="1800" dirty="0">
                <a:solidFill>
                  <a:srgbClr val="A7ACC8"/>
                </a:solidFill>
              </a:rPr>
              <a:t>  ·  </a:t>
            </a:r>
            <a:r>
              <a:rPr lang="en-US" sz="1800" b="1" dirty="0">
                <a:solidFill>
                  <a:srgbClr val="67E8F9"/>
                </a:solidFill>
              </a:rPr>
              <a:t>Diffusion</a:t>
            </a:r>
            <a:endParaRPr lang="en-US" sz="1800" dirty="0"/>
          </a:p>
        </p:txBody>
      </p:sp>
      <p:sp>
        <p:nvSpPr>
          <p:cNvPr id="17" name="cover-inst"/>
          <p:cNvSpPr txBox="1"/>
          <p:nvPr/>
        </p:nvSpPr>
        <p:spPr>
          <a:xfrm>
            <a:off x="548640" y="3703320"/>
            <a:ext cx="5943600" cy="320040"/>
          </a:xfrm>
          <a:prstGeom prst="rect">
            <a:avLst/>
          </a:prstGeom>
          <a:noFill/>
          <a:ln/>
        </p:spPr>
        <p:txBody>
          <a:bodyPr wrap="square" lIns="0" tIns="0" rIns="0" bIns="0" rtlCol="0" anchor="ctr"/>
          <a:lstStyle/>
          <a:p>
            <a:pPr marL="0" indent="0">
              <a:buNone/>
            </a:pPr>
            <a:r>
              <a:rPr lang="en-US" sz="1400" dirty="0">
                <a:solidFill>
                  <a:srgbClr val="A7ACC8"/>
                </a:solidFill>
              </a:rPr>
              <a:t>Generative AI  ·  B.Tech AIML  ·  MIT Academy of Engineering, Pune</a:t>
            </a:r>
            <a:endParaRPr lang="en-US" sz="1400" dirty="0"/>
          </a:p>
        </p:txBody>
      </p:sp>
      <p:sp>
        <p:nvSpPr>
          <p:cNvPr id="18" name="cover-sb"/>
          <p:cNvSpPr txBox="1"/>
          <p:nvPr/>
        </p:nvSpPr>
        <p:spPr>
          <a:xfrm>
            <a:off x="548640" y="4160520"/>
            <a:ext cx="5943600" cy="274320"/>
          </a:xfrm>
          <a:prstGeom prst="rect">
            <a:avLst/>
          </a:prstGeom>
          <a:noFill/>
          <a:ln/>
        </p:spPr>
        <p:txBody>
          <a:bodyPr wrap="square" lIns="0" tIns="0" rIns="0" bIns="0" rtlCol="0" anchor="ctr"/>
          <a:lstStyle/>
          <a:p>
            <a:pPr marL="0" indent="0">
              <a:buNone/>
            </a:pPr>
            <a:r>
              <a:rPr lang="en-US" sz="1200" b="1" kern="0" spc="200" dirty="0">
                <a:solidFill>
                  <a:srgbClr val="67E8F9"/>
                </a:solidFill>
              </a:rPr>
              <a:t>SUBMITTED BY</a:t>
            </a:r>
            <a:endParaRPr lang="en-US" sz="1200" dirty="0"/>
          </a:p>
        </p:txBody>
      </p:sp>
      <p:sp>
        <p:nvSpPr>
          <p:cNvPr id="19" name="cover-team"/>
          <p:cNvSpPr txBox="1"/>
          <p:nvPr/>
        </p:nvSpPr>
        <p:spPr>
          <a:xfrm>
            <a:off x="548640" y="4480560"/>
            <a:ext cx="5943600" cy="960120"/>
          </a:xfrm>
          <a:prstGeom prst="rect">
            <a:avLst/>
          </a:prstGeom>
          <a:noFill/>
          <a:ln/>
        </p:spPr>
        <p:txBody>
          <a:bodyPr wrap="square" lIns="0" tIns="0" rIns="0" bIns="0" rtlCol="0" anchor="ctr"/>
          <a:lstStyle/>
          <a:p>
            <a:pPr marL="0" indent="0">
              <a:spcAft>
                <a:spcPts val="300"/>
              </a:spcAft>
              <a:buNone/>
            </a:pPr>
            <a:r>
              <a:rPr lang="en-US" sz="1500" b="1" dirty="0">
                <a:solidFill>
                  <a:srgbClr val="F5F6FB"/>
                </a:solidFill>
              </a:rPr>
              <a:t>Amruta Kanase</a:t>
            </a:r>
            <a:r>
              <a:rPr lang="en-US" sz="1500" dirty="0">
                <a:solidFill>
                  <a:srgbClr val="A7ACC8"/>
                </a:solidFill>
              </a:rPr>
              <a:t>   202401110042</a:t>
            </a:r>
            <a:endParaRPr lang="en-US" sz="1500" dirty="0"/>
          </a:p>
          <a:p>
            <a:pPr marL="0" indent="0">
              <a:spcAft>
                <a:spcPts val="300"/>
              </a:spcAft>
              <a:buNone/>
            </a:pPr>
            <a:r>
              <a:rPr lang="en-US" sz="1500" b="1" dirty="0">
                <a:solidFill>
                  <a:srgbClr val="F5F6FB"/>
                </a:solidFill>
              </a:rPr>
              <a:t>Sanika Mane</a:t>
            </a:r>
            <a:r>
              <a:rPr lang="en-US" sz="1500" dirty="0">
                <a:solidFill>
                  <a:srgbClr val="A7ACC8"/>
                </a:solidFill>
              </a:rPr>
              <a:t>   202401110047</a:t>
            </a:r>
            <a:endParaRPr lang="en-US" sz="1500" dirty="0"/>
          </a:p>
          <a:p>
            <a:pPr marL="0" indent="0">
              <a:spcAft>
                <a:spcPts val="300"/>
              </a:spcAft>
              <a:buNone/>
            </a:pPr>
            <a:r>
              <a:rPr lang="en-US" sz="1500" b="1" dirty="0">
                <a:solidFill>
                  <a:srgbClr val="F5F6FB"/>
                </a:solidFill>
              </a:rPr>
              <a:t>Tanishka Tapkir</a:t>
            </a:r>
            <a:r>
              <a:rPr lang="en-US" sz="1500" dirty="0">
                <a:solidFill>
                  <a:srgbClr val="A7ACC8"/>
                </a:solidFill>
              </a:rPr>
              <a:t>   202401110071</a:t>
            </a:r>
            <a:endParaRPr lang="en-US" sz="1500" dirty="0"/>
          </a:p>
        </p:txBody>
      </p:sp>
      <p:sp>
        <p:nvSpPr>
          <p:cNvPr id="20" name="cover-link"/>
          <p:cNvSpPr txBox="1"/>
          <p:nvPr/>
        </p:nvSpPr>
        <p:spPr>
          <a:xfrm>
            <a:off x="548640" y="5623560"/>
            <a:ext cx="3657600" cy="365760"/>
          </a:xfrm>
          <a:prstGeom prst="rect">
            <a:avLst/>
          </a:prstGeom>
          <a:noFill/>
          <a:ln/>
        </p:spPr>
        <p:txBody>
          <a:bodyPr wrap="square" lIns="0" tIns="0" rIns="0" bIns="0" rtlCol="0" anchor="ctr"/>
          <a:lstStyle/>
          <a:p>
            <a:pPr marL="0" indent="0">
              <a:buNone/>
            </a:pPr>
            <a:r>
              <a:rPr lang="en-US" sz="1500" b="1" u="sng" dirty="0">
                <a:solidFill>
                  <a:srgbClr val="22D3EE"/>
                </a:solidFill>
                <a:hlinkClick r:id="rId12">
                  <a:extLst>
                    <a:ext uri="{A12FA001-AC4F-418D-AE19-62706E023703}">
                      <ahyp:hlinkClr xmlns:ahyp="http://schemas.microsoft.com/office/drawing/2018/hyperlinkcolor" val="tx"/>
                    </a:ext>
                  </a:extLst>
                </a:hlinkClick>
              </a:rPr>
              <a:t>Open our Colab notebook →</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Four models, two jobs</a:t>
            </a:r>
            <a:endParaRPr lang="en-US" sz="3400" dirty="0"/>
          </a:p>
        </p:txBody>
      </p:sp>
      <p:sp>
        <p:nvSpPr>
          <p:cNvPr id="3" name="grp1-bg"/>
          <p:cNvSpPr/>
          <p:nvPr/>
        </p:nvSpPr>
        <p:spPr>
          <a:xfrm>
            <a:off x="548640" y="1234440"/>
            <a:ext cx="3108960" cy="329184"/>
          </a:xfrm>
          <a:prstGeom prst="roundRect">
            <a:avLst>
              <a:gd name="adj" fmla="val 50000"/>
            </a:avLst>
          </a:prstGeom>
          <a:solidFill>
            <a:srgbClr val="8B5CF6"/>
          </a:solidFill>
          <a:ln w="12700">
            <a:solidFill>
              <a:srgbClr val="8B5CF6"/>
            </a:solidFill>
            <a:prstDash val="solid"/>
          </a:ln>
        </p:spPr>
      </p:sp>
      <p:sp>
        <p:nvSpPr>
          <p:cNvPr id="4" name="grp1"/>
          <p:cNvSpPr txBox="1"/>
          <p:nvPr/>
        </p:nvSpPr>
        <p:spPr>
          <a:xfrm>
            <a:off x="548640" y="1234440"/>
            <a:ext cx="3108960" cy="329184"/>
          </a:xfrm>
          <a:prstGeom prst="rect">
            <a:avLst/>
          </a:prstGeom>
          <a:noFill/>
          <a:ln/>
        </p:spPr>
        <p:txBody>
          <a:bodyPr wrap="square" lIns="0" tIns="0" rIns="0" bIns="0" rtlCol="0" anchor="ctr"/>
          <a:lstStyle/>
          <a:p>
            <a:pPr marL="0" indent="0" algn="ctr">
              <a:buNone/>
            </a:pPr>
            <a:r>
              <a:rPr lang="en-US" sz="1200" b="1" dirty="0">
                <a:solidFill>
                  <a:srgbClr val="F5F6FB"/>
                </a:solidFill>
              </a:rPr>
              <a:t>RECONSTRUCTION  ·  CO3</a:t>
            </a:r>
            <a:endParaRPr lang="en-US" sz="1200" dirty="0"/>
          </a:p>
        </p:txBody>
      </p:sp>
      <p:sp>
        <p:nvSpPr>
          <p:cNvPr id="5" name="grp2-bg"/>
          <p:cNvSpPr/>
          <p:nvPr/>
        </p:nvSpPr>
        <p:spPr>
          <a:xfrm>
            <a:off x="6263640" y="1234440"/>
            <a:ext cx="2743200" cy="329184"/>
          </a:xfrm>
          <a:prstGeom prst="roundRect">
            <a:avLst>
              <a:gd name="adj" fmla="val 50000"/>
            </a:avLst>
          </a:prstGeom>
          <a:solidFill>
            <a:srgbClr val="22D3EE"/>
          </a:solidFill>
          <a:ln w="12700">
            <a:solidFill>
              <a:srgbClr val="22D3EE"/>
            </a:solidFill>
            <a:prstDash val="solid"/>
          </a:ln>
        </p:spPr>
      </p:sp>
      <p:sp>
        <p:nvSpPr>
          <p:cNvPr id="6" name="grp2"/>
          <p:cNvSpPr txBox="1"/>
          <p:nvPr/>
        </p:nvSpPr>
        <p:spPr>
          <a:xfrm>
            <a:off x="6263640" y="1234440"/>
            <a:ext cx="2743200" cy="329184"/>
          </a:xfrm>
          <a:prstGeom prst="rect">
            <a:avLst/>
          </a:prstGeom>
          <a:noFill/>
          <a:ln/>
        </p:spPr>
        <p:txBody>
          <a:bodyPr wrap="square" lIns="0" tIns="0" rIns="0" bIns="0" rtlCol="0" anchor="ctr"/>
          <a:lstStyle/>
          <a:p>
            <a:pPr marL="0" indent="0" algn="ctr">
              <a:buNone/>
            </a:pPr>
            <a:r>
              <a:rPr lang="en-US" sz="1200" b="1" dirty="0">
                <a:solidFill>
                  <a:srgbClr val="0E1124"/>
                </a:solidFill>
              </a:rPr>
              <a:t>GENERATION  ·  CO4</a:t>
            </a:r>
            <a:endParaRPr lang="en-US" sz="1200" dirty="0"/>
          </a:p>
        </p:txBody>
      </p:sp>
      <p:sp>
        <p:nvSpPr>
          <p:cNvPr id="7" name="mcard-0"/>
          <p:cNvSpPr/>
          <p:nvPr/>
        </p:nvSpPr>
        <p:spPr>
          <a:xfrm>
            <a:off x="548640" y="1783080"/>
            <a:ext cx="2651760" cy="4434840"/>
          </a:xfrm>
          <a:prstGeom prst="roundRect">
            <a:avLst>
              <a:gd name="adj" fmla="val 5172"/>
            </a:avLst>
          </a:prstGeom>
          <a:solidFill>
            <a:srgbClr val="181C3A"/>
          </a:solidFill>
          <a:ln w="12700">
            <a:solidFill>
              <a:srgbClr val="181C3A"/>
            </a:solidFill>
            <a:prstDash val="solid"/>
          </a:ln>
        </p:spPr>
      </p:sp>
      <p:sp>
        <p:nvSpPr>
          <p:cNvPr id="8" name="mb-0-c"/>
          <p:cNvSpPr/>
          <p:nvPr/>
        </p:nvSpPr>
        <p:spPr>
          <a:xfrm>
            <a:off x="777240" y="2011680"/>
            <a:ext cx="640080" cy="640080"/>
          </a:xfrm>
          <a:prstGeom prst="ellipse">
            <a:avLst/>
          </a:prstGeom>
          <a:solidFill>
            <a:srgbClr val="8B5CF6"/>
          </a:solidFill>
          <a:ln w="12700">
            <a:solidFill>
              <a:srgbClr val="8B5CF6"/>
            </a:solidFill>
            <a:prstDash val="solid"/>
          </a:ln>
        </p:spPr>
      </p:sp>
      <p:pic>
        <p:nvPicPr>
          <p:cNvPr id="9" name="mb-0-i" descr="preencoded.png"/>
          <p:cNvPicPr>
            <a:picLocks noChangeAspect="1"/>
          </p:cNvPicPr>
          <p:nvPr/>
        </p:nvPicPr>
        <p:blipFill>
          <a:blip r:embed="rId3"/>
          <a:stretch>
            <a:fillRect/>
          </a:stretch>
        </p:blipFill>
        <p:spPr>
          <a:xfrm>
            <a:off x="930859" y="2165299"/>
            <a:ext cx="332842" cy="332842"/>
          </a:xfrm>
          <a:prstGeom prst="rect">
            <a:avLst/>
          </a:prstGeom>
        </p:spPr>
      </p:pic>
      <p:sp>
        <p:nvSpPr>
          <p:cNvPr id="10" name="mn-0"/>
          <p:cNvSpPr txBox="1"/>
          <p:nvPr/>
        </p:nvSpPr>
        <p:spPr>
          <a:xfrm>
            <a:off x="1554480" y="2057400"/>
            <a:ext cx="1508760" cy="548640"/>
          </a:xfrm>
          <a:prstGeom prst="rect">
            <a:avLst/>
          </a:prstGeom>
          <a:noFill/>
          <a:ln/>
        </p:spPr>
        <p:txBody>
          <a:bodyPr wrap="square" lIns="0" tIns="0" rIns="0" bIns="0" rtlCol="0" anchor="ctr"/>
          <a:lstStyle/>
          <a:p>
            <a:pPr marL="0" indent="0">
              <a:buNone/>
            </a:pPr>
            <a:r>
              <a:rPr lang="en-US" sz="1900" b="1" dirty="0">
                <a:solidFill>
                  <a:srgbClr val="F5F6FB"/>
                </a:solidFill>
                <a:latin typeface="Cambria" pitchFamily="34" charset="0"/>
                <a:ea typeface="Cambria" pitchFamily="34" charset="-122"/>
                <a:cs typeface="Cambria" pitchFamily="34" charset="-120"/>
              </a:rPr>
              <a:t>Autoencoder</a:t>
            </a:r>
            <a:endParaRPr lang="en-US" sz="1900" dirty="0"/>
          </a:p>
        </p:txBody>
      </p:sp>
      <p:sp>
        <p:nvSpPr>
          <p:cNvPr id="11" name="mh-0"/>
          <p:cNvSpPr txBox="1"/>
          <p:nvPr/>
        </p:nvSpPr>
        <p:spPr>
          <a:xfrm>
            <a:off x="777240" y="2834640"/>
            <a:ext cx="2194560" cy="1188720"/>
          </a:xfrm>
          <a:prstGeom prst="rect">
            <a:avLst/>
          </a:prstGeom>
          <a:noFill/>
          <a:ln/>
        </p:spPr>
        <p:txBody>
          <a:bodyPr wrap="square" lIns="0" tIns="0" rIns="0" bIns="0" rtlCol="0" anchor="t"/>
          <a:lstStyle/>
          <a:p>
            <a:pPr marL="0" indent="0">
              <a:buNone/>
            </a:pPr>
            <a:r>
              <a:rPr lang="en-US" sz="1400" dirty="0">
                <a:solidFill>
                  <a:srgbClr val="F5F6FB"/>
                </a:solidFill>
              </a:rPr>
              <a:t>Squeezes the image into 128 numbers, then rebuilds it (MSE loss)</a:t>
            </a:r>
            <a:endParaRPr lang="en-US" sz="1400" dirty="0"/>
          </a:p>
        </p:txBody>
      </p:sp>
      <p:pic>
        <p:nvPicPr>
          <p:cNvPr id="12" name="mpi-0" descr="preencoded.png"/>
          <p:cNvPicPr>
            <a:picLocks noChangeAspect="1"/>
          </p:cNvPicPr>
          <p:nvPr/>
        </p:nvPicPr>
        <p:blipFill>
          <a:blip r:embed="rId4"/>
          <a:stretch>
            <a:fillRect/>
          </a:stretch>
        </p:blipFill>
        <p:spPr>
          <a:xfrm>
            <a:off x="777240" y="4160520"/>
            <a:ext cx="256032" cy="256032"/>
          </a:xfrm>
          <a:prstGeom prst="rect">
            <a:avLst/>
          </a:prstGeom>
        </p:spPr>
      </p:pic>
      <p:sp>
        <p:nvSpPr>
          <p:cNvPr id="13" name="mp-0"/>
          <p:cNvSpPr txBox="1"/>
          <p:nvPr/>
        </p:nvSpPr>
        <p:spPr>
          <a:xfrm>
            <a:off x="1143000" y="4087368"/>
            <a:ext cx="1828800" cy="548640"/>
          </a:xfrm>
          <a:prstGeom prst="rect">
            <a:avLst/>
          </a:prstGeom>
          <a:noFill/>
          <a:ln/>
        </p:spPr>
        <p:txBody>
          <a:bodyPr wrap="square" lIns="0" tIns="0" rIns="0" bIns="0" rtlCol="0" anchor="t"/>
          <a:lstStyle/>
          <a:p>
            <a:pPr marL="0" indent="0">
              <a:buNone/>
            </a:pPr>
            <a:r>
              <a:rPr lang="en-US" sz="1400" dirty="0">
                <a:solidFill>
                  <a:srgbClr val="67E8F9"/>
                </a:solidFill>
              </a:rPr>
              <a:t>Simple, fast, stable</a:t>
            </a:r>
            <a:endParaRPr lang="en-US" sz="1400" dirty="0"/>
          </a:p>
        </p:txBody>
      </p:sp>
      <p:pic>
        <p:nvPicPr>
          <p:cNvPr id="14" name="mmi-0" descr="preencoded.png"/>
          <p:cNvPicPr>
            <a:picLocks noChangeAspect="1"/>
          </p:cNvPicPr>
          <p:nvPr/>
        </p:nvPicPr>
        <p:blipFill>
          <a:blip r:embed="rId5"/>
          <a:stretch>
            <a:fillRect/>
          </a:stretch>
        </p:blipFill>
        <p:spPr>
          <a:xfrm>
            <a:off x="777240" y="4800600"/>
            <a:ext cx="256032" cy="256032"/>
          </a:xfrm>
          <a:prstGeom prst="rect">
            <a:avLst/>
          </a:prstGeom>
        </p:spPr>
      </p:pic>
      <p:sp>
        <p:nvSpPr>
          <p:cNvPr id="15" name="mm-0"/>
          <p:cNvSpPr txBox="1"/>
          <p:nvPr/>
        </p:nvSpPr>
        <p:spPr>
          <a:xfrm>
            <a:off x="1143000" y="4727448"/>
            <a:ext cx="1828800" cy="548640"/>
          </a:xfrm>
          <a:prstGeom prst="rect">
            <a:avLst/>
          </a:prstGeom>
          <a:noFill/>
          <a:ln/>
        </p:spPr>
        <p:txBody>
          <a:bodyPr wrap="square" lIns="0" tIns="0" rIns="0" bIns="0" rtlCol="0" anchor="t"/>
          <a:lstStyle/>
          <a:p>
            <a:pPr marL="0" indent="0">
              <a:buNone/>
            </a:pPr>
            <a:r>
              <a:rPr lang="en-US" sz="1400" dirty="0">
                <a:solidFill>
                  <a:srgbClr val="FCA5A5"/>
                </a:solidFill>
              </a:rPr>
              <a:t>Blurry, loses detail</a:t>
            </a:r>
            <a:endParaRPr lang="en-US" sz="1400" dirty="0"/>
          </a:p>
        </p:txBody>
      </p:sp>
      <p:sp>
        <p:nvSpPr>
          <p:cNvPr id="16" name="mu-0"/>
          <p:cNvSpPr txBox="1"/>
          <p:nvPr/>
        </p:nvSpPr>
        <p:spPr>
          <a:xfrm>
            <a:off x="777240" y="5394960"/>
            <a:ext cx="2194560" cy="640080"/>
          </a:xfrm>
          <a:prstGeom prst="rect">
            <a:avLst/>
          </a:prstGeom>
          <a:noFill/>
          <a:ln/>
        </p:spPr>
        <p:txBody>
          <a:bodyPr wrap="square" lIns="0" tIns="0" rIns="0" bIns="0" rtlCol="0" anchor="t"/>
          <a:lstStyle/>
          <a:p>
            <a:pPr marL="0" indent="0">
              <a:buNone/>
            </a:pPr>
            <a:r>
              <a:rPr lang="en-US" sz="1300" b="1" dirty="0">
                <a:solidFill>
                  <a:srgbClr val="A7ACC8"/>
                </a:solidFill>
              </a:rPr>
              <a:t>Used for  </a:t>
            </a:r>
            <a:r>
              <a:rPr lang="en-US" sz="1300" dirty="0">
                <a:solidFill>
                  <a:srgbClr val="F5F6FB"/>
                </a:solidFill>
              </a:rPr>
              <a:t>Compression, denoising</a:t>
            </a:r>
            <a:endParaRPr lang="en-US" sz="1300" dirty="0"/>
          </a:p>
        </p:txBody>
      </p:sp>
      <p:sp>
        <p:nvSpPr>
          <p:cNvPr id="17" name="mcard-1"/>
          <p:cNvSpPr/>
          <p:nvPr/>
        </p:nvSpPr>
        <p:spPr>
          <a:xfrm>
            <a:off x="3383280" y="1783080"/>
            <a:ext cx="2651760" cy="4434840"/>
          </a:xfrm>
          <a:prstGeom prst="roundRect">
            <a:avLst>
              <a:gd name="adj" fmla="val 5172"/>
            </a:avLst>
          </a:prstGeom>
          <a:solidFill>
            <a:srgbClr val="181C3A"/>
          </a:solidFill>
          <a:ln w="12700">
            <a:solidFill>
              <a:srgbClr val="181C3A"/>
            </a:solidFill>
            <a:prstDash val="solid"/>
          </a:ln>
        </p:spPr>
      </p:sp>
      <p:sp>
        <p:nvSpPr>
          <p:cNvPr id="18" name="mb-1-c"/>
          <p:cNvSpPr/>
          <p:nvPr/>
        </p:nvSpPr>
        <p:spPr>
          <a:xfrm>
            <a:off x="3611880" y="2011680"/>
            <a:ext cx="640080" cy="640080"/>
          </a:xfrm>
          <a:prstGeom prst="ellipse">
            <a:avLst/>
          </a:prstGeom>
          <a:solidFill>
            <a:srgbClr val="8B5CF6"/>
          </a:solidFill>
          <a:ln w="12700">
            <a:solidFill>
              <a:srgbClr val="8B5CF6"/>
            </a:solidFill>
            <a:prstDash val="solid"/>
          </a:ln>
        </p:spPr>
      </p:sp>
      <p:pic>
        <p:nvPicPr>
          <p:cNvPr id="19" name="mb-1-i" descr="preencoded.png"/>
          <p:cNvPicPr>
            <a:picLocks noChangeAspect="1"/>
          </p:cNvPicPr>
          <p:nvPr/>
        </p:nvPicPr>
        <p:blipFill>
          <a:blip r:embed="rId6"/>
          <a:stretch>
            <a:fillRect/>
          </a:stretch>
        </p:blipFill>
        <p:spPr>
          <a:xfrm>
            <a:off x="3765499" y="2165299"/>
            <a:ext cx="332842" cy="332842"/>
          </a:xfrm>
          <a:prstGeom prst="rect">
            <a:avLst/>
          </a:prstGeom>
        </p:spPr>
      </p:pic>
      <p:sp>
        <p:nvSpPr>
          <p:cNvPr id="20" name="mn-1"/>
          <p:cNvSpPr txBox="1"/>
          <p:nvPr/>
        </p:nvSpPr>
        <p:spPr>
          <a:xfrm>
            <a:off x="4389120" y="2057400"/>
            <a:ext cx="1508760" cy="548640"/>
          </a:xfrm>
          <a:prstGeom prst="rect">
            <a:avLst/>
          </a:prstGeom>
          <a:noFill/>
          <a:ln/>
        </p:spPr>
        <p:txBody>
          <a:bodyPr wrap="square" lIns="0" tIns="0" rIns="0" bIns="0" rtlCol="0" anchor="ctr"/>
          <a:lstStyle/>
          <a:p>
            <a:pPr marL="0" indent="0">
              <a:buNone/>
            </a:pPr>
            <a:r>
              <a:rPr lang="en-US" sz="1900" b="1" dirty="0">
                <a:solidFill>
                  <a:srgbClr val="F5F6FB"/>
                </a:solidFill>
                <a:latin typeface="Cambria" pitchFamily="34" charset="0"/>
                <a:ea typeface="Cambria" pitchFamily="34" charset="-122"/>
                <a:cs typeface="Cambria" pitchFamily="34" charset="-120"/>
              </a:rPr>
              <a:t>VAE</a:t>
            </a:r>
            <a:endParaRPr lang="en-US" sz="1900" dirty="0"/>
          </a:p>
        </p:txBody>
      </p:sp>
      <p:sp>
        <p:nvSpPr>
          <p:cNvPr id="21" name="mh-1"/>
          <p:cNvSpPr txBox="1"/>
          <p:nvPr/>
        </p:nvSpPr>
        <p:spPr>
          <a:xfrm>
            <a:off x="3611880" y="2834640"/>
            <a:ext cx="2194560" cy="1188720"/>
          </a:xfrm>
          <a:prstGeom prst="rect">
            <a:avLst/>
          </a:prstGeom>
          <a:noFill/>
          <a:ln/>
        </p:spPr>
        <p:txBody>
          <a:bodyPr wrap="square" lIns="0" tIns="0" rIns="0" bIns="0" rtlCol="0" anchor="t"/>
          <a:lstStyle/>
          <a:p>
            <a:pPr marL="0" indent="0">
              <a:buNone/>
            </a:pPr>
            <a:r>
              <a:rPr lang="en-US" sz="1400" dirty="0">
                <a:solidFill>
                  <a:srgbClr val="F5F6FB"/>
                </a:solidFill>
              </a:rPr>
              <a:t>Learns a distribution (μ, σ), samples z = μ + σ·ε (recon + KL loss)</a:t>
            </a:r>
            <a:endParaRPr lang="en-US" sz="1400" dirty="0"/>
          </a:p>
        </p:txBody>
      </p:sp>
      <p:pic>
        <p:nvPicPr>
          <p:cNvPr id="22" name="mpi-1" descr="preencoded.png"/>
          <p:cNvPicPr>
            <a:picLocks noChangeAspect="1"/>
          </p:cNvPicPr>
          <p:nvPr/>
        </p:nvPicPr>
        <p:blipFill>
          <a:blip r:embed="rId4"/>
          <a:stretch>
            <a:fillRect/>
          </a:stretch>
        </p:blipFill>
        <p:spPr>
          <a:xfrm>
            <a:off x="3611880" y="4160520"/>
            <a:ext cx="256032" cy="256032"/>
          </a:xfrm>
          <a:prstGeom prst="rect">
            <a:avLst/>
          </a:prstGeom>
        </p:spPr>
      </p:pic>
      <p:sp>
        <p:nvSpPr>
          <p:cNvPr id="23" name="mp-1"/>
          <p:cNvSpPr txBox="1"/>
          <p:nvPr/>
        </p:nvSpPr>
        <p:spPr>
          <a:xfrm>
            <a:off x="3977640" y="4087368"/>
            <a:ext cx="1828800" cy="548640"/>
          </a:xfrm>
          <a:prstGeom prst="rect">
            <a:avLst/>
          </a:prstGeom>
          <a:noFill/>
          <a:ln/>
        </p:spPr>
        <p:txBody>
          <a:bodyPr wrap="square" lIns="0" tIns="0" rIns="0" bIns="0" rtlCol="0" anchor="t"/>
          <a:lstStyle/>
          <a:p>
            <a:pPr marL="0" indent="0">
              <a:buNone/>
            </a:pPr>
            <a:r>
              <a:rPr lang="en-US" sz="1400" dirty="0">
                <a:solidFill>
                  <a:srgbClr val="67E8F9"/>
                </a:solidFill>
              </a:rPr>
              <a:t>Can sample new faces</a:t>
            </a:r>
            <a:endParaRPr lang="en-US" sz="1400" dirty="0"/>
          </a:p>
        </p:txBody>
      </p:sp>
      <p:pic>
        <p:nvPicPr>
          <p:cNvPr id="24" name="mmi-1" descr="preencoded.png"/>
          <p:cNvPicPr>
            <a:picLocks noChangeAspect="1"/>
          </p:cNvPicPr>
          <p:nvPr/>
        </p:nvPicPr>
        <p:blipFill>
          <a:blip r:embed="rId5"/>
          <a:stretch>
            <a:fillRect/>
          </a:stretch>
        </p:blipFill>
        <p:spPr>
          <a:xfrm>
            <a:off x="3611880" y="4800600"/>
            <a:ext cx="256032" cy="256032"/>
          </a:xfrm>
          <a:prstGeom prst="rect">
            <a:avLst/>
          </a:prstGeom>
        </p:spPr>
      </p:pic>
      <p:sp>
        <p:nvSpPr>
          <p:cNvPr id="25" name="mm-1"/>
          <p:cNvSpPr txBox="1"/>
          <p:nvPr/>
        </p:nvSpPr>
        <p:spPr>
          <a:xfrm>
            <a:off x="3977640" y="4727448"/>
            <a:ext cx="1828800" cy="548640"/>
          </a:xfrm>
          <a:prstGeom prst="rect">
            <a:avLst/>
          </a:prstGeom>
          <a:noFill/>
          <a:ln/>
        </p:spPr>
        <p:txBody>
          <a:bodyPr wrap="square" lIns="0" tIns="0" rIns="0" bIns="0" rtlCol="0" anchor="t"/>
          <a:lstStyle/>
          <a:p>
            <a:pPr marL="0" indent="0">
              <a:buNone/>
            </a:pPr>
            <a:r>
              <a:rPr lang="en-US" sz="1400" dirty="0">
                <a:solidFill>
                  <a:srgbClr val="FCA5A5"/>
                </a:solidFill>
              </a:rPr>
              <a:t>Even softer outputs</a:t>
            </a:r>
            <a:endParaRPr lang="en-US" sz="1400" dirty="0"/>
          </a:p>
        </p:txBody>
      </p:sp>
      <p:sp>
        <p:nvSpPr>
          <p:cNvPr id="26" name="mu-1"/>
          <p:cNvSpPr txBox="1"/>
          <p:nvPr/>
        </p:nvSpPr>
        <p:spPr>
          <a:xfrm>
            <a:off x="3611880" y="5394960"/>
            <a:ext cx="2194560" cy="640080"/>
          </a:xfrm>
          <a:prstGeom prst="rect">
            <a:avLst/>
          </a:prstGeom>
          <a:noFill/>
          <a:ln/>
        </p:spPr>
        <p:txBody>
          <a:bodyPr wrap="square" lIns="0" tIns="0" rIns="0" bIns="0" rtlCol="0" anchor="t"/>
          <a:lstStyle/>
          <a:p>
            <a:pPr marL="0" indent="0">
              <a:buNone/>
            </a:pPr>
            <a:r>
              <a:rPr lang="en-US" sz="1300" b="1" dirty="0">
                <a:solidFill>
                  <a:srgbClr val="A7ACC8"/>
                </a:solidFill>
              </a:rPr>
              <a:t>Used for  </a:t>
            </a:r>
            <a:r>
              <a:rPr lang="en-US" sz="1300" dirty="0">
                <a:solidFill>
                  <a:srgbClr val="F5F6FB"/>
                </a:solidFill>
              </a:rPr>
              <a:t>Representation learning</a:t>
            </a:r>
            <a:endParaRPr lang="en-US" sz="1300" dirty="0"/>
          </a:p>
        </p:txBody>
      </p:sp>
      <p:sp>
        <p:nvSpPr>
          <p:cNvPr id="27" name="mcard-2"/>
          <p:cNvSpPr/>
          <p:nvPr/>
        </p:nvSpPr>
        <p:spPr>
          <a:xfrm>
            <a:off x="6263640" y="1783080"/>
            <a:ext cx="2651760" cy="4434840"/>
          </a:xfrm>
          <a:prstGeom prst="roundRect">
            <a:avLst>
              <a:gd name="adj" fmla="val 5172"/>
            </a:avLst>
          </a:prstGeom>
          <a:solidFill>
            <a:srgbClr val="181C3A"/>
          </a:solidFill>
          <a:ln w="12700">
            <a:solidFill>
              <a:srgbClr val="181C3A"/>
            </a:solidFill>
            <a:prstDash val="solid"/>
          </a:ln>
        </p:spPr>
      </p:sp>
      <p:sp>
        <p:nvSpPr>
          <p:cNvPr id="28" name="mb-2-c"/>
          <p:cNvSpPr/>
          <p:nvPr/>
        </p:nvSpPr>
        <p:spPr>
          <a:xfrm>
            <a:off x="6492240" y="2011680"/>
            <a:ext cx="640080" cy="640080"/>
          </a:xfrm>
          <a:prstGeom prst="ellipse">
            <a:avLst/>
          </a:prstGeom>
          <a:solidFill>
            <a:srgbClr val="22D3EE"/>
          </a:solidFill>
          <a:ln w="12700">
            <a:solidFill>
              <a:srgbClr val="22D3EE"/>
            </a:solidFill>
            <a:prstDash val="solid"/>
          </a:ln>
        </p:spPr>
      </p:sp>
      <p:pic>
        <p:nvPicPr>
          <p:cNvPr id="29" name="mb-2-i" descr="preencoded.png"/>
          <p:cNvPicPr>
            <a:picLocks noChangeAspect="1"/>
          </p:cNvPicPr>
          <p:nvPr/>
        </p:nvPicPr>
        <p:blipFill>
          <a:blip r:embed="rId7"/>
          <a:stretch>
            <a:fillRect/>
          </a:stretch>
        </p:blipFill>
        <p:spPr>
          <a:xfrm>
            <a:off x="6645859" y="2165299"/>
            <a:ext cx="332842" cy="332842"/>
          </a:xfrm>
          <a:prstGeom prst="rect">
            <a:avLst/>
          </a:prstGeom>
        </p:spPr>
      </p:pic>
      <p:sp>
        <p:nvSpPr>
          <p:cNvPr id="30" name="mn-2"/>
          <p:cNvSpPr txBox="1"/>
          <p:nvPr/>
        </p:nvSpPr>
        <p:spPr>
          <a:xfrm>
            <a:off x="7269480" y="2057400"/>
            <a:ext cx="1508760" cy="548640"/>
          </a:xfrm>
          <a:prstGeom prst="rect">
            <a:avLst/>
          </a:prstGeom>
          <a:noFill/>
          <a:ln/>
        </p:spPr>
        <p:txBody>
          <a:bodyPr wrap="square" lIns="0" tIns="0" rIns="0" bIns="0" rtlCol="0" anchor="ctr"/>
          <a:lstStyle/>
          <a:p>
            <a:pPr marL="0" indent="0">
              <a:buNone/>
            </a:pPr>
            <a:r>
              <a:rPr lang="en-US" sz="1900" b="1" dirty="0">
                <a:solidFill>
                  <a:srgbClr val="F5F6FB"/>
                </a:solidFill>
                <a:latin typeface="Cambria" pitchFamily="34" charset="0"/>
                <a:ea typeface="Cambria" pitchFamily="34" charset="-122"/>
                <a:cs typeface="Cambria" pitchFamily="34" charset="-120"/>
              </a:rPr>
              <a:t>DCGAN</a:t>
            </a:r>
            <a:endParaRPr lang="en-US" sz="1900" dirty="0"/>
          </a:p>
        </p:txBody>
      </p:sp>
      <p:sp>
        <p:nvSpPr>
          <p:cNvPr id="31" name="mh-2"/>
          <p:cNvSpPr txBox="1"/>
          <p:nvPr/>
        </p:nvSpPr>
        <p:spPr>
          <a:xfrm>
            <a:off x="6492240" y="2834640"/>
            <a:ext cx="2194560" cy="1188720"/>
          </a:xfrm>
          <a:prstGeom prst="rect">
            <a:avLst/>
          </a:prstGeom>
          <a:noFill/>
          <a:ln/>
        </p:spPr>
        <p:txBody>
          <a:bodyPr wrap="square" lIns="0" tIns="0" rIns="0" bIns="0" rtlCol="0" anchor="t"/>
          <a:lstStyle/>
          <a:p>
            <a:pPr marL="0" indent="0">
              <a:buNone/>
            </a:pPr>
            <a:r>
              <a:rPr lang="en-US" sz="1400" dirty="0">
                <a:solidFill>
                  <a:srgbClr val="F5F6FB"/>
                </a:solidFill>
              </a:rPr>
              <a:t>Generator fakes faces from noise; discriminator judges real vs fake</a:t>
            </a:r>
            <a:endParaRPr lang="en-US" sz="1400" dirty="0"/>
          </a:p>
        </p:txBody>
      </p:sp>
      <p:pic>
        <p:nvPicPr>
          <p:cNvPr id="32" name="mpi-2" descr="preencoded.png"/>
          <p:cNvPicPr>
            <a:picLocks noChangeAspect="1"/>
          </p:cNvPicPr>
          <p:nvPr/>
        </p:nvPicPr>
        <p:blipFill>
          <a:blip r:embed="rId4"/>
          <a:stretch>
            <a:fillRect/>
          </a:stretch>
        </p:blipFill>
        <p:spPr>
          <a:xfrm>
            <a:off x="6492240" y="4160520"/>
            <a:ext cx="256032" cy="256032"/>
          </a:xfrm>
          <a:prstGeom prst="rect">
            <a:avLst/>
          </a:prstGeom>
        </p:spPr>
      </p:pic>
      <p:sp>
        <p:nvSpPr>
          <p:cNvPr id="33" name="mp-2"/>
          <p:cNvSpPr txBox="1"/>
          <p:nvPr/>
        </p:nvSpPr>
        <p:spPr>
          <a:xfrm>
            <a:off x="6858000" y="4087368"/>
            <a:ext cx="1828800" cy="548640"/>
          </a:xfrm>
          <a:prstGeom prst="rect">
            <a:avLst/>
          </a:prstGeom>
          <a:noFill/>
          <a:ln/>
        </p:spPr>
        <p:txBody>
          <a:bodyPr wrap="square" lIns="0" tIns="0" rIns="0" bIns="0" rtlCol="0" anchor="t"/>
          <a:lstStyle/>
          <a:p>
            <a:pPr marL="0" indent="0">
              <a:buNone/>
            </a:pPr>
            <a:r>
              <a:rPr lang="en-US" sz="1400" dirty="0">
                <a:solidFill>
                  <a:srgbClr val="67E8F9"/>
                </a:solidFill>
              </a:rPr>
              <a:t>New, sharper images</a:t>
            </a:r>
            <a:endParaRPr lang="en-US" sz="1400" dirty="0"/>
          </a:p>
        </p:txBody>
      </p:sp>
      <p:pic>
        <p:nvPicPr>
          <p:cNvPr id="34" name="mmi-2" descr="preencoded.png"/>
          <p:cNvPicPr>
            <a:picLocks noChangeAspect="1"/>
          </p:cNvPicPr>
          <p:nvPr/>
        </p:nvPicPr>
        <p:blipFill>
          <a:blip r:embed="rId5"/>
          <a:stretch>
            <a:fillRect/>
          </a:stretch>
        </p:blipFill>
        <p:spPr>
          <a:xfrm>
            <a:off x="6492240" y="4800600"/>
            <a:ext cx="256032" cy="256032"/>
          </a:xfrm>
          <a:prstGeom prst="rect">
            <a:avLst/>
          </a:prstGeom>
        </p:spPr>
      </p:pic>
      <p:sp>
        <p:nvSpPr>
          <p:cNvPr id="35" name="mm-2"/>
          <p:cNvSpPr txBox="1"/>
          <p:nvPr/>
        </p:nvSpPr>
        <p:spPr>
          <a:xfrm>
            <a:off x="6858000" y="4727448"/>
            <a:ext cx="1828800" cy="548640"/>
          </a:xfrm>
          <a:prstGeom prst="rect">
            <a:avLst/>
          </a:prstGeom>
          <a:noFill/>
          <a:ln/>
        </p:spPr>
        <p:txBody>
          <a:bodyPr wrap="square" lIns="0" tIns="0" rIns="0" bIns="0" rtlCol="0" anchor="t"/>
          <a:lstStyle/>
          <a:p>
            <a:pPr marL="0" indent="0">
              <a:buNone/>
            </a:pPr>
            <a:r>
              <a:rPr lang="en-US" sz="1400" dirty="0">
                <a:solidFill>
                  <a:srgbClr val="FCA5A5"/>
                </a:solidFill>
              </a:rPr>
              <a:t>Unstable, artefacts</a:t>
            </a:r>
            <a:endParaRPr lang="en-US" sz="1400" dirty="0"/>
          </a:p>
        </p:txBody>
      </p:sp>
      <p:sp>
        <p:nvSpPr>
          <p:cNvPr id="36" name="mu-2"/>
          <p:cNvSpPr txBox="1"/>
          <p:nvPr/>
        </p:nvSpPr>
        <p:spPr>
          <a:xfrm>
            <a:off x="6492240" y="5394960"/>
            <a:ext cx="2194560" cy="640080"/>
          </a:xfrm>
          <a:prstGeom prst="rect">
            <a:avLst/>
          </a:prstGeom>
          <a:noFill/>
          <a:ln/>
        </p:spPr>
        <p:txBody>
          <a:bodyPr wrap="square" lIns="0" tIns="0" rIns="0" bIns="0" rtlCol="0" anchor="t"/>
          <a:lstStyle/>
          <a:p>
            <a:pPr marL="0" indent="0">
              <a:buNone/>
            </a:pPr>
            <a:r>
              <a:rPr lang="en-US" sz="1300" b="1" dirty="0">
                <a:solidFill>
                  <a:srgbClr val="A7ACC8"/>
                </a:solidFill>
              </a:rPr>
              <a:t>Used for  </a:t>
            </a:r>
            <a:r>
              <a:rPr lang="en-US" sz="1300" dirty="0">
                <a:solidFill>
                  <a:srgbClr val="F5F6FB"/>
                </a:solidFill>
              </a:rPr>
              <a:t>Face synthesis, augmentation</a:t>
            </a:r>
            <a:endParaRPr lang="en-US" sz="1300" dirty="0"/>
          </a:p>
        </p:txBody>
      </p:sp>
      <p:sp>
        <p:nvSpPr>
          <p:cNvPr id="37" name="mcard-3"/>
          <p:cNvSpPr/>
          <p:nvPr/>
        </p:nvSpPr>
        <p:spPr>
          <a:xfrm>
            <a:off x="9098280" y="1783080"/>
            <a:ext cx="2651760" cy="4434840"/>
          </a:xfrm>
          <a:prstGeom prst="roundRect">
            <a:avLst>
              <a:gd name="adj" fmla="val 5172"/>
            </a:avLst>
          </a:prstGeom>
          <a:solidFill>
            <a:srgbClr val="181C3A"/>
          </a:solidFill>
          <a:ln w="12700">
            <a:solidFill>
              <a:srgbClr val="181C3A"/>
            </a:solidFill>
            <a:prstDash val="solid"/>
          </a:ln>
        </p:spPr>
      </p:sp>
      <p:sp>
        <p:nvSpPr>
          <p:cNvPr id="38" name="mb-3-c"/>
          <p:cNvSpPr/>
          <p:nvPr/>
        </p:nvSpPr>
        <p:spPr>
          <a:xfrm>
            <a:off x="9326880" y="2011680"/>
            <a:ext cx="640080" cy="640080"/>
          </a:xfrm>
          <a:prstGeom prst="ellipse">
            <a:avLst/>
          </a:prstGeom>
          <a:solidFill>
            <a:srgbClr val="22D3EE"/>
          </a:solidFill>
          <a:ln w="12700">
            <a:solidFill>
              <a:srgbClr val="22D3EE"/>
            </a:solidFill>
            <a:prstDash val="solid"/>
          </a:ln>
        </p:spPr>
      </p:sp>
      <p:pic>
        <p:nvPicPr>
          <p:cNvPr id="39" name="mb-3-i" descr="preencoded.png"/>
          <p:cNvPicPr>
            <a:picLocks noChangeAspect="1"/>
          </p:cNvPicPr>
          <p:nvPr/>
        </p:nvPicPr>
        <p:blipFill>
          <a:blip r:embed="rId8"/>
          <a:stretch>
            <a:fillRect/>
          </a:stretch>
        </p:blipFill>
        <p:spPr>
          <a:xfrm>
            <a:off x="9480499" y="2165299"/>
            <a:ext cx="332842" cy="332842"/>
          </a:xfrm>
          <a:prstGeom prst="rect">
            <a:avLst/>
          </a:prstGeom>
        </p:spPr>
      </p:pic>
      <p:sp>
        <p:nvSpPr>
          <p:cNvPr id="40" name="mn-3"/>
          <p:cNvSpPr txBox="1"/>
          <p:nvPr/>
        </p:nvSpPr>
        <p:spPr>
          <a:xfrm>
            <a:off x="10104120" y="2057400"/>
            <a:ext cx="1508760" cy="548640"/>
          </a:xfrm>
          <a:prstGeom prst="rect">
            <a:avLst/>
          </a:prstGeom>
          <a:noFill/>
          <a:ln/>
        </p:spPr>
        <p:txBody>
          <a:bodyPr wrap="square" lIns="0" tIns="0" rIns="0" bIns="0" rtlCol="0" anchor="ctr"/>
          <a:lstStyle/>
          <a:p>
            <a:pPr marL="0" indent="0">
              <a:buNone/>
            </a:pPr>
            <a:r>
              <a:rPr lang="en-US" sz="1900" b="1" dirty="0">
                <a:solidFill>
                  <a:srgbClr val="F5F6FB"/>
                </a:solidFill>
                <a:latin typeface="Cambria" pitchFamily="34" charset="0"/>
                <a:ea typeface="Cambria" pitchFamily="34" charset="-122"/>
                <a:cs typeface="Cambria" pitchFamily="34" charset="-120"/>
              </a:rPr>
              <a:t>Diffusion</a:t>
            </a:r>
            <a:endParaRPr lang="en-US" sz="1900" dirty="0"/>
          </a:p>
        </p:txBody>
      </p:sp>
      <p:sp>
        <p:nvSpPr>
          <p:cNvPr id="41" name="mh-3"/>
          <p:cNvSpPr txBox="1"/>
          <p:nvPr/>
        </p:nvSpPr>
        <p:spPr>
          <a:xfrm>
            <a:off x="9326880" y="2834640"/>
            <a:ext cx="2194560" cy="1188720"/>
          </a:xfrm>
          <a:prstGeom prst="rect">
            <a:avLst/>
          </a:prstGeom>
          <a:noFill/>
          <a:ln/>
        </p:spPr>
        <p:txBody>
          <a:bodyPr wrap="square" lIns="0" tIns="0" rIns="0" bIns="0" rtlCol="0" anchor="t"/>
          <a:lstStyle/>
          <a:p>
            <a:pPr marL="0" indent="0">
              <a:buNone/>
            </a:pPr>
            <a:r>
              <a:rPr lang="en-US" sz="1400" dirty="0">
                <a:solidFill>
                  <a:srgbClr val="F5F6FB"/>
                </a:solidFill>
              </a:rPr>
              <a:t>Removes noise step by step, guided by a text prompt (U-Net)</a:t>
            </a:r>
            <a:endParaRPr lang="en-US" sz="1400" dirty="0"/>
          </a:p>
        </p:txBody>
      </p:sp>
      <p:pic>
        <p:nvPicPr>
          <p:cNvPr id="42" name="mpi-3" descr="preencoded.png"/>
          <p:cNvPicPr>
            <a:picLocks noChangeAspect="1"/>
          </p:cNvPicPr>
          <p:nvPr/>
        </p:nvPicPr>
        <p:blipFill>
          <a:blip r:embed="rId4"/>
          <a:stretch>
            <a:fillRect/>
          </a:stretch>
        </p:blipFill>
        <p:spPr>
          <a:xfrm>
            <a:off x="9326880" y="4160520"/>
            <a:ext cx="256032" cy="256032"/>
          </a:xfrm>
          <a:prstGeom prst="rect">
            <a:avLst/>
          </a:prstGeom>
        </p:spPr>
      </p:pic>
      <p:sp>
        <p:nvSpPr>
          <p:cNvPr id="43" name="mp-3"/>
          <p:cNvSpPr txBox="1"/>
          <p:nvPr/>
        </p:nvSpPr>
        <p:spPr>
          <a:xfrm>
            <a:off x="9692640" y="4087368"/>
            <a:ext cx="1828800" cy="548640"/>
          </a:xfrm>
          <a:prstGeom prst="rect">
            <a:avLst/>
          </a:prstGeom>
          <a:noFill/>
          <a:ln/>
        </p:spPr>
        <p:txBody>
          <a:bodyPr wrap="square" lIns="0" tIns="0" rIns="0" bIns="0" rtlCol="0" anchor="t"/>
          <a:lstStyle/>
          <a:p>
            <a:pPr marL="0" indent="0">
              <a:buNone/>
            </a:pPr>
            <a:r>
              <a:rPr lang="en-US" sz="1400" dirty="0">
                <a:solidFill>
                  <a:srgbClr val="67E8F9"/>
                </a:solidFill>
              </a:rPr>
              <a:t>Best quality + prompt control</a:t>
            </a:r>
            <a:endParaRPr lang="en-US" sz="1400" dirty="0"/>
          </a:p>
        </p:txBody>
      </p:sp>
      <p:pic>
        <p:nvPicPr>
          <p:cNvPr id="44" name="mmi-3" descr="preencoded.png"/>
          <p:cNvPicPr>
            <a:picLocks noChangeAspect="1"/>
          </p:cNvPicPr>
          <p:nvPr/>
        </p:nvPicPr>
        <p:blipFill>
          <a:blip r:embed="rId5"/>
          <a:stretch>
            <a:fillRect/>
          </a:stretch>
        </p:blipFill>
        <p:spPr>
          <a:xfrm>
            <a:off x="9326880" y="4800600"/>
            <a:ext cx="256032" cy="256032"/>
          </a:xfrm>
          <a:prstGeom prst="rect">
            <a:avLst/>
          </a:prstGeom>
        </p:spPr>
      </p:pic>
      <p:sp>
        <p:nvSpPr>
          <p:cNvPr id="45" name="mm-3"/>
          <p:cNvSpPr txBox="1"/>
          <p:nvPr/>
        </p:nvSpPr>
        <p:spPr>
          <a:xfrm>
            <a:off x="9692640" y="4727448"/>
            <a:ext cx="1828800" cy="548640"/>
          </a:xfrm>
          <a:prstGeom prst="rect">
            <a:avLst/>
          </a:prstGeom>
          <a:noFill/>
          <a:ln/>
        </p:spPr>
        <p:txBody>
          <a:bodyPr wrap="square" lIns="0" tIns="0" rIns="0" bIns="0" rtlCol="0" anchor="t"/>
          <a:lstStyle/>
          <a:p>
            <a:pPr marL="0" indent="0">
              <a:buNone/>
            </a:pPr>
            <a:r>
              <a:rPr lang="en-US" sz="1400" dirty="0">
                <a:solidFill>
                  <a:srgbClr val="FCA5A5"/>
                </a:solidFill>
              </a:rPr>
              <a:t>Heavy compute</a:t>
            </a:r>
            <a:endParaRPr lang="en-US" sz="1400" dirty="0"/>
          </a:p>
        </p:txBody>
      </p:sp>
      <p:sp>
        <p:nvSpPr>
          <p:cNvPr id="46" name="mu-3"/>
          <p:cNvSpPr txBox="1"/>
          <p:nvPr/>
        </p:nvSpPr>
        <p:spPr>
          <a:xfrm>
            <a:off x="9326880" y="5394960"/>
            <a:ext cx="2194560" cy="640080"/>
          </a:xfrm>
          <a:prstGeom prst="rect">
            <a:avLst/>
          </a:prstGeom>
          <a:noFill/>
          <a:ln/>
        </p:spPr>
        <p:txBody>
          <a:bodyPr wrap="square" lIns="0" tIns="0" rIns="0" bIns="0" rtlCol="0" anchor="t"/>
          <a:lstStyle/>
          <a:p>
            <a:pPr marL="0" indent="0">
              <a:buNone/>
            </a:pPr>
            <a:r>
              <a:rPr lang="en-US" sz="1300" b="1" dirty="0">
                <a:solidFill>
                  <a:srgbClr val="A7ACC8"/>
                </a:solidFill>
              </a:rPr>
              <a:t>Used for  </a:t>
            </a:r>
            <a:r>
              <a:rPr lang="en-US" sz="1300" dirty="0">
                <a:solidFill>
                  <a:srgbClr val="F5F6FB"/>
                </a:solidFill>
              </a:rPr>
              <a:t>Text-to-image, design</a:t>
            </a:r>
            <a:endParaRPr lang="en-US" sz="1300" dirty="0"/>
          </a:p>
        </p:txBody>
      </p:sp>
      <p:sp>
        <p:nvSpPr>
          <p:cNvPr id="47"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Inside each model</a:t>
            </a:r>
            <a:endParaRPr lang="en-US" sz="3400" dirty="0"/>
          </a:p>
        </p:txBody>
      </p:sp>
      <p:sp>
        <p:nvSpPr>
          <p:cNvPr id="3" name="ap-0"/>
          <p:cNvSpPr/>
          <p:nvPr/>
        </p:nvSpPr>
        <p:spPr>
          <a:xfrm>
            <a:off x="548640" y="1280160"/>
            <a:ext cx="5440680" cy="2423160"/>
          </a:xfrm>
          <a:prstGeom prst="roundRect">
            <a:avLst>
              <a:gd name="adj" fmla="val 5660"/>
            </a:avLst>
          </a:prstGeom>
          <a:solidFill>
            <a:srgbClr val="181C3A"/>
          </a:solidFill>
          <a:ln w="12700">
            <a:solidFill>
              <a:srgbClr val="181C3A"/>
            </a:solidFill>
            <a:prstDash val="solid"/>
          </a:ln>
        </p:spPr>
      </p:sp>
      <p:sp>
        <p:nvSpPr>
          <p:cNvPr id="4" name="apd-0"/>
          <p:cNvSpPr/>
          <p:nvPr/>
        </p:nvSpPr>
        <p:spPr>
          <a:xfrm>
            <a:off x="777240" y="1527048"/>
            <a:ext cx="182880" cy="182880"/>
          </a:xfrm>
          <a:prstGeom prst="ellipse">
            <a:avLst/>
          </a:prstGeom>
          <a:solidFill>
            <a:srgbClr val="8B5CF6"/>
          </a:solidFill>
          <a:ln w="12700">
            <a:solidFill>
              <a:srgbClr val="8B5CF6"/>
            </a:solidFill>
            <a:prstDash val="solid"/>
          </a:ln>
        </p:spPr>
      </p:sp>
      <p:sp>
        <p:nvSpPr>
          <p:cNvPr id="5" name="apt-0"/>
          <p:cNvSpPr txBox="1"/>
          <p:nvPr/>
        </p:nvSpPr>
        <p:spPr>
          <a:xfrm>
            <a:off x="1051560" y="1435608"/>
            <a:ext cx="4709160" cy="365760"/>
          </a:xfrm>
          <a:prstGeom prst="rect">
            <a:avLst/>
          </a:prstGeom>
          <a:noFill/>
          <a:ln/>
        </p:spPr>
        <p:txBody>
          <a:bodyPr wrap="square" lIns="0" tIns="0" rIns="0" bIns="0" rtlCol="0" anchor="ctr"/>
          <a:lstStyle/>
          <a:p>
            <a:pPr marL="0" indent="0">
              <a:buNone/>
            </a:pPr>
            <a:r>
              <a:rPr lang="en-US" sz="1500" b="1" dirty="0">
                <a:solidFill>
                  <a:srgbClr val="F5F6FB"/>
                </a:solidFill>
              </a:rPr>
              <a:t>Autoencoder   </a:t>
            </a:r>
            <a:r>
              <a:rPr lang="en-US" sz="1500" dirty="0">
                <a:solidFill>
                  <a:srgbClr val="A7ACC8"/>
                </a:solidFill>
              </a:rPr>
              <a:t>compress → rebuild</a:t>
            </a:r>
            <a:endParaRPr lang="en-US" sz="1500" dirty="0"/>
          </a:p>
        </p:txBody>
      </p:sp>
      <p:sp>
        <p:nvSpPr>
          <p:cNvPr id="6" name="ap-1"/>
          <p:cNvSpPr/>
          <p:nvPr/>
        </p:nvSpPr>
        <p:spPr>
          <a:xfrm>
            <a:off x="6217920" y="1280160"/>
            <a:ext cx="5440680" cy="2423160"/>
          </a:xfrm>
          <a:prstGeom prst="roundRect">
            <a:avLst>
              <a:gd name="adj" fmla="val 5660"/>
            </a:avLst>
          </a:prstGeom>
          <a:solidFill>
            <a:srgbClr val="181C3A"/>
          </a:solidFill>
          <a:ln w="12700">
            <a:solidFill>
              <a:srgbClr val="181C3A"/>
            </a:solidFill>
            <a:prstDash val="solid"/>
          </a:ln>
        </p:spPr>
      </p:sp>
      <p:sp>
        <p:nvSpPr>
          <p:cNvPr id="7" name="apd-1"/>
          <p:cNvSpPr/>
          <p:nvPr/>
        </p:nvSpPr>
        <p:spPr>
          <a:xfrm>
            <a:off x="6446520" y="1527048"/>
            <a:ext cx="182880" cy="182880"/>
          </a:xfrm>
          <a:prstGeom prst="ellipse">
            <a:avLst/>
          </a:prstGeom>
          <a:solidFill>
            <a:srgbClr val="8B5CF6"/>
          </a:solidFill>
          <a:ln w="12700">
            <a:solidFill>
              <a:srgbClr val="8B5CF6"/>
            </a:solidFill>
            <a:prstDash val="solid"/>
          </a:ln>
        </p:spPr>
      </p:sp>
      <p:sp>
        <p:nvSpPr>
          <p:cNvPr id="8" name="apt-1"/>
          <p:cNvSpPr txBox="1"/>
          <p:nvPr/>
        </p:nvSpPr>
        <p:spPr>
          <a:xfrm>
            <a:off x="6720840" y="1435608"/>
            <a:ext cx="4709160" cy="365760"/>
          </a:xfrm>
          <a:prstGeom prst="rect">
            <a:avLst/>
          </a:prstGeom>
          <a:noFill/>
          <a:ln/>
        </p:spPr>
        <p:txBody>
          <a:bodyPr wrap="square" lIns="0" tIns="0" rIns="0" bIns="0" rtlCol="0" anchor="ctr"/>
          <a:lstStyle/>
          <a:p>
            <a:pPr marL="0" indent="0">
              <a:buNone/>
            </a:pPr>
            <a:r>
              <a:rPr lang="en-US" sz="1500" b="1" dirty="0">
                <a:solidFill>
                  <a:srgbClr val="F5F6FB"/>
                </a:solidFill>
              </a:rPr>
              <a:t>VAE   </a:t>
            </a:r>
            <a:r>
              <a:rPr lang="en-US" sz="1500" dirty="0">
                <a:solidFill>
                  <a:srgbClr val="A7ACC8"/>
                </a:solidFill>
              </a:rPr>
              <a:t>learn a distribution, then sample</a:t>
            </a:r>
            <a:endParaRPr lang="en-US" sz="1500" dirty="0"/>
          </a:p>
        </p:txBody>
      </p:sp>
      <p:sp>
        <p:nvSpPr>
          <p:cNvPr id="9" name="ap-2"/>
          <p:cNvSpPr/>
          <p:nvPr/>
        </p:nvSpPr>
        <p:spPr>
          <a:xfrm>
            <a:off x="548640" y="3886200"/>
            <a:ext cx="5440680" cy="2423160"/>
          </a:xfrm>
          <a:prstGeom prst="roundRect">
            <a:avLst>
              <a:gd name="adj" fmla="val 5660"/>
            </a:avLst>
          </a:prstGeom>
          <a:solidFill>
            <a:srgbClr val="181C3A"/>
          </a:solidFill>
          <a:ln w="12700">
            <a:solidFill>
              <a:srgbClr val="181C3A"/>
            </a:solidFill>
            <a:prstDash val="solid"/>
          </a:ln>
        </p:spPr>
      </p:sp>
      <p:sp>
        <p:nvSpPr>
          <p:cNvPr id="10" name="apd-2"/>
          <p:cNvSpPr/>
          <p:nvPr/>
        </p:nvSpPr>
        <p:spPr>
          <a:xfrm>
            <a:off x="777240" y="4133088"/>
            <a:ext cx="182880" cy="182880"/>
          </a:xfrm>
          <a:prstGeom prst="ellipse">
            <a:avLst/>
          </a:prstGeom>
          <a:solidFill>
            <a:srgbClr val="22D3EE"/>
          </a:solidFill>
          <a:ln w="12700">
            <a:solidFill>
              <a:srgbClr val="22D3EE"/>
            </a:solidFill>
            <a:prstDash val="solid"/>
          </a:ln>
        </p:spPr>
      </p:sp>
      <p:sp>
        <p:nvSpPr>
          <p:cNvPr id="11" name="apt-2"/>
          <p:cNvSpPr txBox="1"/>
          <p:nvPr/>
        </p:nvSpPr>
        <p:spPr>
          <a:xfrm>
            <a:off x="1051560" y="4041648"/>
            <a:ext cx="4709160" cy="365760"/>
          </a:xfrm>
          <a:prstGeom prst="rect">
            <a:avLst/>
          </a:prstGeom>
          <a:noFill/>
          <a:ln/>
        </p:spPr>
        <p:txBody>
          <a:bodyPr wrap="square" lIns="0" tIns="0" rIns="0" bIns="0" rtlCol="0" anchor="ctr"/>
          <a:lstStyle/>
          <a:p>
            <a:pPr marL="0" indent="0">
              <a:buNone/>
            </a:pPr>
            <a:r>
              <a:rPr lang="en-US" sz="1500" b="1" dirty="0">
                <a:solidFill>
                  <a:srgbClr val="F5F6FB"/>
                </a:solidFill>
              </a:rPr>
              <a:t>DCGAN   </a:t>
            </a:r>
            <a:r>
              <a:rPr lang="en-US" sz="1500" dirty="0">
                <a:solidFill>
                  <a:srgbClr val="A7ACC8"/>
                </a:solidFill>
              </a:rPr>
              <a:t>generator vs discriminator</a:t>
            </a:r>
            <a:endParaRPr lang="en-US" sz="1500" dirty="0"/>
          </a:p>
        </p:txBody>
      </p:sp>
      <p:sp>
        <p:nvSpPr>
          <p:cNvPr id="12" name="ap-3"/>
          <p:cNvSpPr/>
          <p:nvPr/>
        </p:nvSpPr>
        <p:spPr>
          <a:xfrm>
            <a:off x="6217920" y="3886200"/>
            <a:ext cx="5440680" cy="2423160"/>
          </a:xfrm>
          <a:prstGeom prst="roundRect">
            <a:avLst>
              <a:gd name="adj" fmla="val 5660"/>
            </a:avLst>
          </a:prstGeom>
          <a:solidFill>
            <a:srgbClr val="181C3A"/>
          </a:solidFill>
          <a:ln w="12700">
            <a:solidFill>
              <a:srgbClr val="181C3A"/>
            </a:solidFill>
            <a:prstDash val="solid"/>
          </a:ln>
        </p:spPr>
      </p:sp>
      <p:sp>
        <p:nvSpPr>
          <p:cNvPr id="13" name="apd-3"/>
          <p:cNvSpPr/>
          <p:nvPr/>
        </p:nvSpPr>
        <p:spPr>
          <a:xfrm>
            <a:off x="6446520" y="4133088"/>
            <a:ext cx="182880" cy="182880"/>
          </a:xfrm>
          <a:prstGeom prst="ellipse">
            <a:avLst/>
          </a:prstGeom>
          <a:solidFill>
            <a:srgbClr val="22D3EE"/>
          </a:solidFill>
          <a:ln w="12700">
            <a:solidFill>
              <a:srgbClr val="22D3EE"/>
            </a:solidFill>
            <a:prstDash val="solid"/>
          </a:ln>
        </p:spPr>
      </p:sp>
      <p:sp>
        <p:nvSpPr>
          <p:cNvPr id="14" name="apt-3"/>
          <p:cNvSpPr txBox="1"/>
          <p:nvPr/>
        </p:nvSpPr>
        <p:spPr>
          <a:xfrm>
            <a:off x="6720840" y="4041648"/>
            <a:ext cx="4709160" cy="365760"/>
          </a:xfrm>
          <a:prstGeom prst="rect">
            <a:avLst/>
          </a:prstGeom>
          <a:noFill/>
          <a:ln/>
        </p:spPr>
        <p:txBody>
          <a:bodyPr wrap="square" lIns="0" tIns="0" rIns="0" bIns="0" rtlCol="0" anchor="ctr"/>
          <a:lstStyle/>
          <a:p>
            <a:pPr marL="0" indent="0">
              <a:buNone/>
            </a:pPr>
            <a:r>
              <a:rPr lang="en-US" sz="1500" b="1" dirty="0">
                <a:solidFill>
                  <a:srgbClr val="F5F6FB"/>
                </a:solidFill>
              </a:rPr>
              <a:t>Diffusion   </a:t>
            </a:r>
            <a:r>
              <a:rPr lang="en-US" sz="1500" dirty="0">
                <a:solidFill>
                  <a:srgbClr val="A7ACC8"/>
                </a:solidFill>
              </a:rPr>
              <a:t>denoise step by step, guided by text</a:t>
            </a:r>
            <a:endParaRPr lang="en-US" sz="1500" dirty="0"/>
          </a:p>
        </p:txBody>
      </p:sp>
      <p:pic>
        <p:nvPicPr>
          <p:cNvPr id="15" name="ae-in" descr="Input face"/>
          <p:cNvPicPr>
            <a:picLocks noChangeAspect="1"/>
          </p:cNvPicPr>
          <p:nvPr/>
        </p:nvPicPr>
        <p:blipFill>
          <a:blip r:embed="rId3"/>
          <a:stretch>
            <a:fillRect/>
          </a:stretch>
        </p:blipFill>
        <p:spPr>
          <a:xfrm>
            <a:off x="822960" y="2171700"/>
            <a:ext cx="868680" cy="868680"/>
          </a:xfrm>
          <a:prstGeom prst="rect">
            <a:avLst/>
          </a:prstGeom>
        </p:spPr>
      </p:pic>
      <p:sp>
        <p:nvSpPr>
          <p:cNvPr id="16" name="ae-a1"/>
          <p:cNvSpPr/>
          <p:nvPr/>
        </p:nvSpPr>
        <p:spPr>
          <a:xfrm>
            <a:off x="1737360" y="2606040"/>
            <a:ext cx="228600" cy="0"/>
          </a:xfrm>
          <a:prstGeom prst="line">
            <a:avLst/>
          </a:prstGeom>
          <a:noFill/>
          <a:ln w="22225">
            <a:solidFill>
              <a:srgbClr val="A7ACC8"/>
            </a:solidFill>
            <a:prstDash val="solid"/>
            <a:tailEnd type="triangle"/>
          </a:ln>
        </p:spPr>
      </p:sp>
      <p:sp>
        <p:nvSpPr>
          <p:cNvPr id="17" name="ae-enc"/>
          <p:cNvSpPr/>
          <p:nvPr/>
        </p:nvSpPr>
        <p:spPr>
          <a:xfrm rot="5400000">
            <a:off x="2080260" y="2034540"/>
            <a:ext cx="1005840" cy="1143000"/>
          </a:xfrm>
          <a:prstGeom prst="trapezoid">
            <a:avLst/>
          </a:prstGeom>
          <a:solidFill>
            <a:srgbClr val="8B5CF6"/>
          </a:solidFill>
          <a:ln w="12700">
            <a:solidFill>
              <a:srgbClr val="8B5CF6"/>
            </a:solidFill>
            <a:prstDash val="solid"/>
          </a:ln>
        </p:spPr>
      </p:sp>
      <p:sp>
        <p:nvSpPr>
          <p:cNvPr id="18" name="ae-enc-l"/>
          <p:cNvSpPr txBox="1"/>
          <p:nvPr/>
        </p:nvSpPr>
        <p:spPr>
          <a:xfrm>
            <a:off x="1828800" y="3154680"/>
            <a:ext cx="1508760" cy="274320"/>
          </a:xfrm>
          <a:prstGeom prst="rect">
            <a:avLst/>
          </a:prstGeom>
          <a:noFill/>
          <a:ln/>
        </p:spPr>
        <p:txBody>
          <a:bodyPr wrap="square" lIns="0" tIns="0" rIns="0" bIns="0" rtlCol="0" anchor="ctr"/>
          <a:lstStyle/>
          <a:p>
            <a:pPr marL="0" indent="0" algn="ctr">
              <a:buNone/>
            </a:pPr>
            <a:r>
              <a:rPr lang="en-US" sz="1200" dirty="0">
                <a:solidFill>
                  <a:srgbClr val="A7ACC8"/>
                </a:solidFill>
              </a:rPr>
              <a:t>Encoder</a:t>
            </a:r>
            <a:endParaRPr lang="en-US" sz="1200" dirty="0"/>
          </a:p>
        </p:txBody>
      </p:sp>
      <p:sp>
        <p:nvSpPr>
          <p:cNvPr id="19" name="ae-z"/>
          <p:cNvSpPr/>
          <p:nvPr/>
        </p:nvSpPr>
        <p:spPr>
          <a:xfrm>
            <a:off x="3200400" y="2400300"/>
            <a:ext cx="457200" cy="411480"/>
          </a:xfrm>
          <a:prstGeom prst="roundRect">
            <a:avLst>
              <a:gd name="adj" fmla="val 17778"/>
            </a:avLst>
          </a:prstGeom>
          <a:solidFill>
            <a:srgbClr val="FBBF24"/>
          </a:solidFill>
          <a:ln w="12700">
            <a:solidFill>
              <a:srgbClr val="FBBF24"/>
            </a:solidFill>
            <a:prstDash val="solid"/>
          </a:ln>
        </p:spPr>
      </p:sp>
      <p:sp>
        <p:nvSpPr>
          <p:cNvPr id="20" name="ae-z-t"/>
          <p:cNvSpPr txBox="1"/>
          <p:nvPr/>
        </p:nvSpPr>
        <p:spPr>
          <a:xfrm>
            <a:off x="3200400" y="2400300"/>
            <a:ext cx="457200" cy="411480"/>
          </a:xfrm>
          <a:prstGeom prst="rect">
            <a:avLst/>
          </a:prstGeom>
          <a:noFill/>
          <a:ln/>
        </p:spPr>
        <p:txBody>
          <a:bodyPr wrap="square" lIns="0" tIns="0" rIns="0" bIns="0" rtlCol="0" anchor="ctr"/>
          <a:lstStyle/>
          <a:p>
            <a:pPr marL="0" indent="0" algn="ctr">
              <a:buNone/>
            </a:pPr>
            <a:r>
              <a:rPr lang="en-US" sz="1600" b="1" dirty="0">
                <a:solidFill>
                  <a:srgbClr val="0E1124"/>
                </a:solidFill>
              </a:rPr>
              <a:t>z</a:t>
            </a:r>
            <a:endParaRPr lang="en-US" sz="1600" dirty="0"/>
          </a:p>
        </p:txBody>
      </p:sp>
      <p:sp>
        <p:nvSpPr>
          <p:cNvPr id="21" name="ae-zl"/>
          <p:cNvSpPr txBox="1"/>
          <p:nvPr/>
        </p:nvSpPr>
        <p:spPr>
          <a:xfrm>
            <a:off x="3063240" y="2880360"/>
            <a:ext cx="731520" cy="274320"/>
          </a:xfrm>
          <a:prstGeom prst="rect">
            <a:avLst/>
          </a:prstGeom>
          <a:noFill/>
          <a:ln/>
        </p:spPr>
        <p:txBody>
          <a:bodyPr wrap="square" lIns="0" tIns="0" rIns="0" bIns="0" rtlCol="0" anchor="ctr"/>
          <a:lstStyle/>
          <a:p>
            <a:pPr marL="0" indent="0" algn="ctr">
              <a:buNone/>
            </a:pPr>
            <a:r>
              <a:rPr lang="en-US" sz="1200" dirty="0">
                <a:solidFill>
                  <a:srgbClr val="FBBF24"/>
                </a:solidFill>
              </a:rPr>
              <a:t>128-d</a:t>
            </a:r>
            <a:endParaRPr lang="en-US" sz="1200" dirty="0"/>
          </a:p>
        </p:txBody>
      </p:sp>
      <p:sp>
        <p:nvSpPr>
          <p:cNvPr id="22" name="ae-dec"/>
          <p:cNvSpPr/>
          <p:nvPr/>
        </p:nvSpPr>
        <p:spPr>
          <a:xfrm rot="16200000">
            <a:off x="3771900" y="2034540"/>
            <a:ext cx="1005840" cy="1143000"/>
          </a:xfrm>
          <a:prstGeom prst="trapezoid">
            <a:avLst/>
          </a:prstGeom>
          <a:solidFill>
            <a:srgbClr val="8B5CF6"/>
          </a:solidFill>
          <a:ln w="12700">
            <a:solidFill>
              <a:srgbClr val="8B5CF6"/>
            </a:solidFill>
            <a:prstDash val="solid"/>
          </a:ln>
        </p:spPr>
      </p:sp>
      <p:sp>
        <p:nvSpPr>
          <p:cNvPr id="23" name="ae-dec-l"/>
          <p:cNvSpPr txBox="1"/>
          <p:nvPr/>
        </p:nvSpPr>
        <p:spPr>
          <a:xfrm>
            <a:off x="3520440" y="3154680"/>
            <a:ext cx="1508760" cy="274320"/>
          </a:xfrm>
          <a:prstGeom prst="rect">
            <a:avLst/>
          </a:prstGeom>
          <a:noFill/>
          <a:ln/>
        </p:spPr>
        <p:txBody>
          <a:bodyPr wrap="square" lIns="0" tIns="0" rIns="0" bIns="0" rtlCol="0" anchor="ctr"/>
          <a:lstStyle/>
          <a:p>
            <a:pPr marL="0" indent="0" algn="ctr">
              <a:buNone/>
            </a:pPr>
            <a:r>
              <a:rPr lang="en-US" sz="1200" dirty="0">
                <a:solidFill>
                  <a:srgbClr val="A7ACC8"/>
                </a:solidFill>
              </a:rPr>
              <a:t>Decoder</a:t>
            </a:r>
            <a:endParaRPr lang="en-US" sz="1200" dirty="0"/>
          </a:p>
        </p:txBody>
      </p:sp>
      <p:sp>
        <p:nvSpPr>
          <p:cNvPr id="24" name="ae-a2"/>
          <p:cNvSpPr/>
          <p:nvPr/>
        </p:nvSpPr>
        <p:spPr>
          <a:xfrm>
            <a:off x="4873752" y="2606040"/>
            <a:ext cx="137160" cy="0"/>
          </a:xfrm>
          <a:prstGeom prst="line">
            <a:avLst/>
          </a:prstGeom>
          <a:noFill/>
          <a:ln w="22225">
            <a:solidFill>
              <a:srgbClr val="A7ACC8"/>
            </a:solidFill>
            <a:prstDash val="solid"/>
            <a:tailEnd type="triangle"/>
          </a:ln>
        </p:spPr>
      </p:sp>
      <p:pic>
        <p:nvPicPr>
          <p:cNvPr id="25" name="ae-out" descr="AE reconstruction"/>
          <p:cNvPicPr>
            <a:picLocks noChangeAspect="1"/>
          </p:cNvPicPr>
          <p:nvPr/>
        </p:nvPicPr>
        <p:blipFill>
          <a:blip r:embed="rId4"/>
          <a:stretch>
            <a:fillRect/>
          </a:stretch>
        </p:blipFill>
        <p:spPr>
          <a:xfrm>
            <a:off x="5029200" y="2194560"/>
            <a:ext cx="822960" cy="822960"/>
          </a:xfrm>
          <a:prstGeom prst="rect">
            <a:avLst/>
          </a:prstGeom>
        </p:spPr>
      </p:pic>
      <p:pic>
        <p:nvPicPr>
          <p:cNvPr id="26" name="vae-in" descr="Input face"/>
          <p:cNvPicPr>
            <a:picLocks noChangeAspect="1"/>
          </p:cNvPicPr>
          <p:nvPr/>
        </p:nvPicPr>
        <p:blipFill>
          <a:blip r:embed="rId3"/>
          <a:stretch>
            <a:fillRect/>
          </a:stretch>
        </p:blipFill>
        <p:spPr>
          <a:xfrm>
            <a:off x="6492240" y="2171700"/>
            <a:ext cx="868680" cy="868680"/>
          </a:xfrm>
          <a:prstGeom prst="rect">
            <a:avLst/>
          </a:prstGeom>
        </p:spPr>
      </p:pic>
      <p:sp>
        <p:nvSpPr>
          <p:cNvPr id="27" name="vae-a1"/>
          <p:cNvSpPr/>
          <p:nvPr/>
        </p:nvSpPr>
        <p:spPr>
          <a:xfrm>
            <a:off x="7406640" y="2606040"/>
            <a:ext cx="182880" cy="0"/>
          </a:xfrm>
          <a:prstGeom prst="line">
            <a:avLst/>
          </a:prstGeom>
          <a:noFill/>
          <a:ln w="22225">
            <a:solidFill>
              <a:srgbClr val="A7ACC8"/>
            </a:solidFill>
            <a:prstDash val="solid"/>
            <a:tailEnd type="triangle"/>
          </a:ln>
        </p:spPr>
      </p:sp>
      <p:sp>
        <p:nvSpPr>
          <p:cNvPr id="28" name="vae-enc"/>
          <p:cNvSpPr/>
          <p:nvPr/>
        </p:nvSpPr>
        <p:spPr>
          <a:xfrm rot="5400000">
            <a:off x="7612380" y="2125980"/>
            <a:ext cx="1005840" cy="960120"/>
          </a:xfrm>
          <a:prstGeom prst="trapezoid">
            <a:avLst/>
          </a:prstGeom>
          <a:solidFill>
            <a:srgbClr val="8B5CF6"/>
          </a:solidFill>
          <a:ln w="12700">
            <a:solidFill>
              <a:srgbClr val="8B5CF6"/>
            </a:solidFill>
            <a:prstDash val="solid"/>
          </a:ln>
        </p:spPr>
      </p:sp>
      <p:sp>
        <p:nvSpPr>
          <p:cNvPr id="29" name="vae-enc-l"/>
          <p:cNvSpPr txBox="1"/>
          <p:nvPr/>
        </p:nvSpPr>
        <p:spPr>
          <a:xfrm>
            <a:off x="7452360" y="3154680"/>
            <a:ext cx="1325880" cy="274320"/>
          </a:xfrm>
          <a:prstGeom prst="rect">
            <a:avLst/>
          </a:prstGeom>
          <a:noFill/>
          <a:ln/>
        </p:spPr>
        <p:txBody>
          <a:bodyPr wrap="square" lIns="0" tIns="0" rIns="0" bIns="0" rtlCol="0" anchor="ctr"/>
          <a:lstStyle/>
          <a:p>
            <a:pPr marL="0" indent="0" algn="ctr">
              <a:buNone/>
            </a:pPr>
            <a:r>
              <a:rPr lang="en-US" sz="1200" dirty="0">
                <a:solidFill>
                  <a:srgbClr val="A7ACC8"/>
                </a:solidFill>
              </a:rPr>
              <a:t>Encoder</a:t>
            </a:r>
            <a:endParaRPr lang="en-US" sz="1200" dirty="0"/>
          </a:p>
        </p:txBody>
      </p:sp>
      <p:sp>
        <p:nvSpPr>
          <p:cNvPr id="30" name="vae-mu"/>
          <p:cNvSpPr/>
          <p:nvPr/>
        </p:nvSpPr>
        <p:spPr>
          <a:xfrm>
            <a:off x="8686800" y="2157984"/>
            <a:ext cx="457200" cy="347472"/>
          </a:xfrm>
          <a:prstGeom prst="roundRect">
            <a:avLst>
              <a:gd name="adj" fmla="val 21053"/>
            </a:avLst>
          </a:prstGeom>
          <a:solidFill>
            <a:srgbClr val="C4B5FD"/>
          </a:solidFill>
          <a:ln w="12700">
            <a:solidFill>
              <a:srgbClr val="C4B5FD"/>
            </a:solidFill>
            <a:prstDash val="solid"/>
          </a:ln>
        </p:spPr>
      </p:sp>
      <p:sp>
        <p:nvSpPr>
          <p:cNvPr id="31" name="vae-mu-t"/>
          <p:cNvSpPr txBox="1"/>
          <p:nvPr/>
        </p:nvSpPr>
        <p:spPr>
          <a:xfrm>
            <a:off x="8686800" y="2157984"/>
            <a:ext cx="457200" cy="347472"/>
          </a:xfrm>
          <a:prstGeom prst="rect">
            <a:avLst/>
          </a:prstGeom>
          <a:noFill/>
          <a:ln/>
        </p:spPr>
        <p:txBody>
          <a:bodyPr wrap="square" lIns="0" tIns="0" rIns="0" bIns="0" rtlCol="0" anchor="ctr"/>
          <a:lstStyle/>
          <a:p>
            <a:pPr marL="0" indent="0" algn="ctr">
              <a:buNone/>
            </a:pPr>
            <a:r>
              <a:rPr lang="en-US" sz="1500" b="1" dirty="0">
                <a:solidFill>
                  <a:srgbClr val="0E1124"/>
                </a:solidFill>
              </a:rPr>
              <a:t>μ</a:t>
            </a:r>
            <a:endParaRPr lang="en-US" sz="1500" dirty="0"/>
          </a:p>
        </p:txBody>
      </p:sp>
      <p:sp>
        <p:nvSpPr>
          <p:cNvPr id="32" name="vae-sig"/>
          <p:cNvSpPr/>
          <p:nvPr/>
        </p:nvSpPr>
        <p:spPr>
          <a:xfrm>
            <a:off x="8686800" y="2706624"/>
            <a:ext cx="457200" cy="347472"/>
          </a:xfrm>
          <a:prstGeom prst="roundRect">
            <a:avLst>
              <a:gd name="adj" fmla="val 21053"/>
            </a:avLst>
          </a:prstGeom>
          <a:solidFill>
            <a:srgbClr val="C4B5FD"/>
          </a:solidFill>
          <a:ln w="12700">
            <a:solidFill>
              <a:srgbClr val="C4B5FD"/>
            </a:solidFill>
            <a:prstDash val="solid"/>
          </a:ln>
        </p:spPr>
      </p:sp>
      <p:sp>
        <p:nvSpPr>
          <p:cNvPr id="33" name="vae-sig-t"/>
          <p:cNvSpPr txBox="1"/>
          <p:nvPr/>
        </p:nvSpPr>
        <p:spPr>
          <a:xfrm>
            <a:off x="8686800" y="2706624"/>
            <a:ext cx="457200" cy="347472"/>
          </a:xfrm>
          <a:prstGeom prst="rect">
            <a:avLst/>
          </a:prstGeom>
          <a:noFill/>
          <a:ln/>
        </p:spPr>
        <p:txBody>
          <a:bodyPr wrap="square" lIns="0" tIns="0" rIns="0" bIns="0" rtlCol="0" anchor="ctr"/>
          <a:lstStyle/>
          <a:p>
            <a:pPr marL="0" indent="0" algn="ctr">
              <a:buNone/>
            </a:pPr>
            <a:r>
              <a:rPr lang="en-US" sz="1500" b="1" dirty="0">
                <a:solidFill>
                  <a:srgbClr val="0E1124"/>
                </a:solidFill>
              </a:rPr>
              <a:t>σ</a:t>
            </a:r>
            <a:endParaRPr lang="en-US" sz="1500" dirty="0"/>
          </a:p>
        </p:txBody>
      </p:sp>
      <p:sp>
        <p:nvSpPr>
          <p:cNvPr id="34" name="vae-a2"/>
          <p:cNvSpPr/>
          <p:nvPr/>
        </p:nvSpPr>
        <p:spPr>
          <a:xfrm>
            <a:off x="9189720" y="2606040"/>
            <a:ext cx="137160" cy="0"/>
          </a:xfrm>
          <a:prstGeom prst="line">
            <a:avLst/>
          </a:prstGeom>
          <a:noFill/>
          <a:ln w="22225">
            <a:solidFill>
              <a:srgbClr val="A7ACC8"/>
            </a:solidFill>
            <a:prstDash val="solid"/>
            <a:tailEnd type="triangle"/>
          </a:ln>
        </p:spPr>
      </p:sp>
      <p:sp>
        <p:nvSpPr>
          <p:cNvPr id="35" name="vae-z"/>
          <p:cNvSpPr/>
          <p:nvPr/>
        </p:nvSpPr>
        <p:spPr>
          <a:xfrm>
            <a:off x="9345168" y="2377440"/>
            <a:ext cx="457200" cy="457200"/>
          </a:xfrm>
          <a:prstGeom prst="ellipse">
            <a:avLst/>
          </a:prstGeom>
          <a:solidFill>
            <a:srgbClr val="FBBF24"/>
          </a:solidFill>
          <a:ln w="12700">
            <a:solidFill>
              <a:srgbClr val="FBBF24"/>
            </a:solidFill>
            <a:prstDash val="solid"/>
          </a:ln>
        </p:spPr>
      </p:sp>
      <p:sp>
        <p:nvSpPr>
          <p:cNvPr id="36" name="vae-zt"/>
          <p:cNvSpPr txBox="1"/>
          <p:nvPr/>
        </p:nvSpPr>
        <p:spPr>
          <a:xfrm>
            <a:off x="9345168" y="2377440"/>
            <a:ext cx="457200" cy="457200"/>
          </a:xfrm>
          <a:prstGeom prst="rect">
            <a:avLst/>
          </a:prstGeom>
          <a:noFill/>
          <a:ln/>
        </p:spPr>
        <p:txBody>
          <a:bodyPr wrap="square" lIns="0" tIns="0" rIns="0" bIns="0" rtlCol="0" anchor="ctr"/>
          <a:lstStyle/>
          <a:p>
            <a:pPr marL="0" indent="0" algn="ctr">
              <a:buNone/>
            </a:pPr>
            <a:r>
              <a:rPr lang="en-US" sz="1600" b="1" dirty="0">
                <a:solidFill>
                  <a:srgbClr val="0E1124"/>
                </a:solidFill>
              </a:rPr>
              <a:t>z</a:t>
            </a:r>
            <a:endParaRPr lang="en-US" sz="1600" dirty="0"/>
          </a:p>
        </p:txBody>
      </p:sp>
      <p:sp>
        <p:nvSpPr>
          <p:cNvPr id="37" name="vae-zl"/>
          <p:cNvSpPr txBox="1"/>
          <p:nvPr/>
        </p:nvSpPr>
        <p:spPr>
          <a:xfrm>
            <a:off x="9208008" y="2880360"/>
            <a:ext cx="731520" cy="274320"/>
          </a:xfrm>
          <a:prstGeom prst="rect">
            <a:avLst/>
          </a:prstGeom>
          <a:noFill/>
          <a:ln/>
        </p:spPr>
        <p:txBody>
          <a:bodyPr wrap="square" lIns="0" tIns="0" rIns="0" bIns="0" rtlCol="0" anchor="ctr"/>
          <a:lstStyle/>
          <a:p>
            <a:pPr marL="0" indent="0" algn="ctr">
              <a:buNone/>
            </a:pPr>
            <a:r>
              <a:rPr lang="en-US" sz="1200" dirty="0">
                <a:solidFill>
                  <a:srgbClr val="FBBF24"/>
                </a:solidFill>
              </a:rPr>
              <a:t>sample</a:t>
            </a:r>
            <a:endParaRPr lang="en-US" sz="1200" dirty="0"/>
          </a:p>
        </p:txBody>
      </p:sp>
      <p:sp>
        <p:nvSpPr>
          <p:cNvPr id="38" name="vae-dec"/>
          <p:cNvSpPr/>
          <p:nvPr/>
        </p:nvSpPr>
        <p:spPr>
          <a:xfrm rot="16200000">
            <a:off x="9710928" y="2240280"/>
            <a:ext cx="1005840" cy="731520"/>
          </a:xfrm>
          <a:prstGeom prst="trapezoid">
            <a:avLst/>
          </a:prstGeom>
          <a:solidFill>
            <a:srgbClr val="8B5CF6"/>
          </a:solidFill>
          <a:ln w="12700">
            <a:solidFill>
              <a:srgbClr val="8B5CF6"/>
            </a:solidFill>
            <a:prstDash val="solid"/>
          </a:ln>
        </p:spPr>
      </p:sp>
      <p:sp>
        <p:nvSpPr>
          <p:cNvPr id="39" name="vae-dec-l"/>
          <p:cNvSpPr txBox="1"/>
          <p:nvPr/>
        </p:nvSpPr>
        <p:spPr>
          <a:xfrm>
            <a:off x="9665208" y="3154680"/>
            <a:ext cx="1097280" cy="274320"/>
          </a:xfrm>
          <a:prstGeom prst="rect">
            <a:avLst/>
          </a:prstGeom>
          <a:noFill/>
          <a:ln/>
        </p:spPr>
        <p:txBody>
          <a:bodyPr wrap="square" lIns="0" tIns="0" rIns="0" bIns="0" rtlCol="0" anchor="ctr"/>
          <a:lstStyle/>
          <a:p>
            <a:pPr marL="0" indent="0" algn="ctr">
              <a:buNone/>
            </a:pPr>
            <a:r>
              <a:rPr lang="en-US" sz="1200" dirty="0">
                <a:solidFill>
                  <a:srgbClr val="A7ACC8"/>
                </a:solidFill>
              </a:rPr>
              <a:t>Decoder</a:t>
            </a:r>
            <a:endParaRPr lang="en-US" sz="1200" dirty="0"/>
          </a:p>
        </p:txBody>
      </p:sp>
      <p:sp>
        <p:nvSpPr>
          <p:cNvPr id="40" name="vae-a3"/>
          <p:cNvSpPr/>
          <p:nvPr/>
        </p:nvSpPr>
        <p:spPr>
          <a:xfrm>
            <a:off x="10607040" y="2606040"/>
            <a:ext cx="182880" cy="0"/>
          </a:xfrm>
          <a:prstGeom prst="line">
            <a:avLst/>
          </a:prstGeom>
          <a:noFill/>
          <a:ln w="22225">
            <a:solidFill>
              <a:srgbClr val="A7ACC8"/>
            </a:solidFill>
            <a:prstDash val="solid"/>
            <a:tailEnd type="triangle"/>
          </a:ln>
        </p:spPr>
      </p:sp>
      <p:pic>
        <p:nvPicPr>
          <p:cNvPr id="41" name="vae-out" descr="VAE reconstruction"/>
          <p:cNvPicPr>
            <a:picLocks noChangeAspect="1"/>
          </p:cNvPicPr>
          <p:nvPr/>
        </p:nvPicPr>
        <p:blipFill>
          <a:blip r:embed="rId5"/>
          <a:stretch>
            <a:fillRect/>
          </a:stretch>
        </p:blipFill>
        <p:spPr>
          <a:xfrm>
            <a:off x="10808208" y="2240280"/>
            <a:ext cx="731520" cy="731520"/>
          </a:xfrm>
          <a:prstGeom prst="rect">
            <a:avLst/>
          </a:prstGeom>
        </p:spPr>
      </p:pic>
      <p:pic>
        <p:nvPicPr>
          <p:cNvPr id="42" name="g-noise" descr="Random noise"/>
          <p:cNvPicPr>
            <a:picLocks noChangeAspect="1"/>
          </p:cNvPicPr>
          <p:nvPr/>
        </p:nvPicPr>
        <p:blipFill>
          <a:blip r:embed="rId6"/>
          <a:stretch>
            <a:fillRect/>
          </a:stretch>
        </p:blipFill>
        <p:spPr>
          <a:xfrm>
            <a:off x="822960" y="4846320"/>
            <a:ext cx="731520" cy="731520"/>
          </a:xfrm>
          <a:prstGeom prst="rect">
            <a:avLst/>
          </a:prstGeom>
        </p:spPr>
      </p:pic>
      <p:sp>
        <p:nvSpPr>
          <p:cNvPr id="43" name="g-nl"/>
          <p:cNvSpPr txBox="1"/>
          <p:nvPr/>
        </p:nvSpPr>
        <p:spPr>
          <a:xfrm>
            <a:off x="731520" y="5623560"/>
            <a:ext cx="914400" cy="274320"/>
          </a:xfrm>
          <a:prstGeom prst="rect">
            <a:avLst/>
          </a:prstGeom>
          <a:noFill/>
          <a:ln/>
        </p:spPr>
        <p:txBody>
          <a:bodyPr wrap="square" lIns="0" tIns="0" rIns="0" bIns="0" rtlCol="0" anchor="ctr"/>
          <a:lstStyle/>
          <a:p>
            <a:pPr marL="0" indent="0" algn="ctr">
              <a:buNone/>
            </a:pPr>
            <a:r>
              <a:rPr lang="en-US" sz="1200" dirty="0">
                <a:solidFill>
                  <a:srgbClr val="A7ACC8"/>
                </a:solidFill>
              </a:rPr>
              <a:t>noise z</a:t>
            </a:r>
            <a:endParaRPr lang="en-US" sz="1200" dirty="0"/>
          </a:p>
        </p:txBody>
      </p:sp>
      <p:sp>
        <p:nvSpPr>
          <p:cNvPr id="44" name="g-a1"/>
          <p:cNvSpPr/>
          <p:nvPr/>
        </p:nvSpPr>
        <p:spPr>
          <a:xfrm>
            <a:off x="1600200" y="5212080"/>
            <a:ext cx="182880" cy="0"/>
          </a:xfrm>
          <a:prstGeom prst="line">
            <a:avLst/>
          </a:prstGeom>
          <a:noFill/>
          <a:ln w="22225">
            <a:solidFill>
              <a:srgbClr val="A7ACC8"/>
            </a:solidFill>
            <a:prstDash val="solid"/>
            <a:tailEnd type="triangle"/>
          </a:ln>
        </p:spPr>
      </p:sp>
      <p:sp>
        <p:nvSpPr>
          <p:cNvPr id="45" name="g-gen"/>
          <p:cNvSpPr/>
          <p:nvPr/>
        </p:nvSpPr>
        <p:spPr>
          <a:xfrm rot="16200000">
            <a:off x="1805940" y="4732020"/>
            <a:ext cx="1005840" cy="960120"/>
          </a:xfrm>
          <a:prstGeom prst="trapezoid">
            <a:avLst/>
          </a:prstGeom>
          <a:solidFill>
            <a:srgbClr val="22D3EE"/>
          </a:solidFill>
          <a:ln w="12700">
            <a:solidFill>
              <a:srgbClr val="22D3EE"/>
            </a:solidFill>
            <a:prstDash val="solid"/>
          </a:ln>
        </p:spPr>
      </p:sp>
      <p:sp>
        <p:nvSpPr>
          <p:cNvPr id="46" name="g-gen-l"/>
          <p:cNvSpPr txBox="1"/>
          <p:nvPr/>
        </p:nvSpPr>
        <p:spPr>
          <a:xfrm>
            <a:off x="1645920" y="5760720"/>
            <a:ext cx="1325880" cy="274320"/>
          </a:xfrm>
          <a:prstGeom prst="rect">
            <a:avLst/>
          </a:prstGeom>
          <a:noFill/>
          <a:ln/>
        </p:spPr>
        <p:txBody>
          <a:bodyPr wrap="square" lIns="0" tIns="0" rIns="0" bIns="0" rtlCol="0" anchor="ctr"/>
          <a:lstStyle/>
          <a:p>
            <a:pPr marL="0" indent="0" algn="ctr">
              <a:buNone/>
            </a:pPr>
            <a:r>
              <a:rPr lang="en-US" sz="1200" dirty="0">
                <a:solidFill>
                  <a:srgbClr val="A7ACC8"/>
                </a:solidFill>
              </a:rPr>
              <a:t>Generator</a:t>
            </a:r>
            <a:endParaRPr lang="en-US" sz="1200" dirty="0"/>
          </a:p>
        </p:txBody>
      </p:sp>
      <p:sp>
        <p:nvSpPr>
          <p:cNvPr id="47" name="g-a2"/>
          <p:cNvSpPr/>
          <p:nvPr/>
        </p:nvSpPr>
        <p:spPr>
          <a:xfrm>
            <a:off x="2834640" y="5212080"/>
            <a:ext cx="182880" cy="0"/>
          </a:xfrm>
          <a:prstGeom prst="line">
            <a:avLst/>
          </a:prstGeom>
          <a:noFill/>
          <a:ln w="22225">
            <a:solidFill>
              <a:srgbClr val="A7ACC8"/>
            </a:solidFill>
            <a:prstDash val="solid"/>
            <a:tailEnd type="triangle"/>
          </a:ln>
        </p:spPr>
      </p:sp>
      <p:pic>
        <p:nvPicPr>
          <p:cNvPr id="48" name="g-fake" descr="Generated face"/>
          <p:cNvPicPr>
            <a:picLocks noChangeAspect="1"/>
          </p:cNvPicPr>
          <p:nvPr/>
        </p:nvPicPr>
        <p:blipFill>
          <a:blip r:embed="rId7"/>
          <a:stretch>
            <a:fillRect/>
          </a:stretch>
        </p:blipFill>
        <p:spPr>
          <a:xfrm>
            <a:off x="3035808" y="4823460"/>
            <a:ext cx="777240" cy="777240"/>
          </a:xfrm>
          <a:prstGeom prst="rect">
            <a:avLst/>
          </a:prstGeom>
        </p:spPr>
      </p:pic>
      <p:sp>
        <p:nvSpPr>
          <p:cNvPr id="49" name="g-fl"/>
          <p:cNvSpPr txBox="1"/>
          <p:nvPr/>
        </p:nvSpPr>
        <p:spPr>
          <a:xfrm>
            <a:off x="2944368" y="5641848"/>
            <a:ext cx="960120" cy="274320"/>
          </a:xfrm>
          <a:prstGeom prst="rect">
            <a:avLst/>
          </a:prstGeom>
          <a:noFill/>
          <a:ln/>
        </p:spPr>
        <p:txBody>
          <a:bodyPr wrap="square" lIns="0" tIns="0" rIns="0" bIns="0" rtlCol="0" anchor="ctr"/>
          <a:lstStyle/>
          <a:p>
            <a:pPr marL="0" indent="0" algn="ctr">
              <a:buNone/>
            </a:pPr>
            <a:r>
              <a:rPr lang="en-US" sz="1200" dirty="0">
                <a:solidFill>
                  <a:srgbClr val="A7ACC8"/>
                </a:solidFill>
              </a:rPr>
              <a:t>fake</a:t>
            </a:r>
            <a:endParaRPr lang="en-US" sz="1200" dirty="0"/>
          </a:p>
        </p:txBody>
      </p:sp>
      <p:sp>
        <p:nvSpPr>
          <p:cNvPr id="50" name="g-a3"/>
          <p:cNvSpPr/>
          <p:nvPr/>
        </p:nvSpPr>
        <p:spPr>
          <a:xfrm>
            <a:off x="3858768" y="5212080"/>
            <a:ext cx="164592" cy="0"/>
          </a:xfrm>
          <a:prstGeom prst="line">
            <a:avLst/>
          </a:prstGeom>
          <a:noFill/>
          <a:ln w="22225">
            <a:solidFill>
              <a:srgbClr val="A7ACC8"/>
            </a:solidFill>
            <a:prstDash val="solid"/>
            <a:tailEnd type="triangle"/>
          </a:ln>
        </p:spPr>
      </p:sp>
      <p:sp>
        <p:nvSpPr>
          <p:cNvPr id="51" name="g-dis"/>
          <p:cNvSpPr/>
          <p:nvPr/>
        </p:nvSpPr>
        <p:spPr>
          <a:xfrm rot="5400000">
            <a:off x="4023360" y="4754880"/>
            <a:ext cx="1005840" cy="914400"/>
          </a:xfrm>
          <a:prstGeom prst="trapezoid">
            <a:avLst/>
          </a:prstGeom>
          <a:solidFill>
            <a:srgbClr val="22D3EE"/>
          </a:solidFill>
          <a:ln w="12700">
            <a:solidFill>
              <a:srgbClr val="22D3EE"/>
            </a:solidFill>
            <a:prstDash val="solid"/>
          </a:ln>
        </p:spPr>
      </p:sp>
      <p:sp>
        <p:nvSpPr>
          <p:cNvPr id="52" name="g-dis-l"/>
          <p:cNvSpPr txBox="1"/>
          <p:nvPr/>
        </p:nvSpPr>
        <p:spPr>
          <a:xfrm>
            <a:off x="3886200" y="5760720"/>
            <a:ext cx="1280160" cy="274320"/>
          </a:xfrm>
          <a:prstGeom prst="rect">
            <a:avLst/>
          </a:prstGeom>
          <a:noFill/>
          <a:ln/>
        </p:spPr>
        <p:txBody>
          <a:bodyPr wrap="square" lIns="0" tIns="0" rIns="0" bIns="0" rtlCol="0" anchor="ctr"/>
          <a:lstStyle/>
          <a:p>
            <a:pPr marL="0" indent="0" algn="ctr">
              <a:buNone/>
            </a:pPr>
            <a:r>
              <a:rPr lang="en-US" sz="1200" dirty="0">
                <a:solidFill>
                  <a:srgbClr val="A7ACC8"/>
                </a:solidFill>
              </a:rPr>
              <a:t>Discriminator</a:t>
            </a:r>
            <a:endParaRPr lang="en-US" sz="1200" dirty="0"/>
          </a:p>
        </p:txBody>
      </p:sp>
      <p:sp>
        <p:nvSpPr>
          <p:cNvPr id="53" name="g-real"/>
          <p:cNvSpPr txBox="1"/>
          <p:nvPr/>
        </p:nvSpPr>
        <p:spPr>
          <a:xfrm>
            <a:off x="3794760" y="4389120"/>
            <a:ext cx="1463040" cy="274320"/>
          </a:xfrm>
          <a:prstGeom prst="rect">
            <a:avLst/>
          </a:prstGeom>
          <a:noFill/>
          <a:ln/>
        </p:spPr>
        <p:txBody>
          <a:bodyPr wrap="square" lIns="0" tIns="0" rIns="0" bIns="0" rtlCol="0" anchor="ctr"/>
          <a:lstStyle/>
          <a:p>
            <a:pPr marL="0" indent="0" algn="ctr">
              <a:buNone/>
            </a:pPr>
            <a:r>
              <a:rPr lang="en-US" sz="1200" dirty="0">
                <a:solidFill>
                  <a:srgbClr val="67E8F9"/>
                </a:solidFill>
              </a:rPr>
              <a:t>+ real LFW faces</a:t>
            </a:r>
            <a:endParaRPr lang="en-US" sz="1200" dirty="0"/>
          </a:p>
        </p:txBody>
      </p:sp>
      <p:sp>
        <p:nvSpPr>
          <p:cNvPr id="54" name="g-out"/>
          <p:cNvSpPr/>
          <p:nvPr/>
        </p:nvSpPr>
        <p:spPr>
          <a:xfrm>
            <a:off x="5010912" y="4983480"/>
            <a:ext cx="731520" cy="457200"/>
          </a:xfrm>
          <a:prstGeom prst="roundRect">
            <a:avLst>
              <a:gd name="adj" fmla="val 16000"/>
            </a:avLst>
          </a:prstGeom>
          <a:solidFill>
            <a:srgbClr val="FBBF24"/>
          </a:solidFill>
          <a:ln w="12700">
            <a:solidFill>
              <a:srgbClr val="FBBF24"/>
            </a:solidFill>
            <a:prstDash val="solid"/>
          </a:ln>
        </p:spPr>
      </p:sp>
      <p:sp>
        <p:nvSpPr>
          <p:cNvPr id="55" name="g-out-t"/>
          <p:cNvSpPr txBox="1"/>
          <p:nvPr/>
        </p:nvSpPr>
        <p:spPr>
          <a:xfrm>
            <a:off x="5010912" y="4983480"/>
            <a:ext cx="731520" cy="457200"/>
          </a:xfrm>
          <a:prstGeom prst="rect">
            <a:avLst/>
          </a:prstGeom>
          <a:noFill/>
          <a:ln/>
        </p:spPr>
        <p:txBody>
          <a:bodyPr wrap="square" lIns="0" tIns="0" rIns="0" bIns="0" rtlCol="0" anchor="ctr"/>
          <a:lstStyle/>
          <a:p>
            <a:pPr marL="0" indent="0" algn="ctr">
              <a:buNone/>
            </a:pPr>
            <a:r>
              <a:rPr lang="en-US" sz="1100" b="1" dirty="0">
                <a:solidFill>
                  <a:srgbClr val="0E1124"/>
                </a:solidFill>
              </a:rPr>
              <a:t>Real?</a:t>
            </a:r>
            <a:endParaRPr lang="en-US" sz="1100" dirty="0"/>
          </a:p>
          <a:p>
            <a:pPr marL="0" indent="0" algn="ctr">
              <a:buNone/>
            </a:pPr>
            <a:r>
              <a:rPr lang="en-US" sz="1100" b="1" dirty="0">
                <a:solidFill>
                  <a:srgbClr val="0E1124"/>
                </a:solidFill>
              </a:rPr>
              <a:t>Fake?</a:t>
            </a:r>
            <a:endParaRPr lang="en-US" sz="1100" dirty="0"/>
          </a:p>
        </p:txBody>
      </p:sp>
      <p:pic>
        <p:nvPicPr>
          <p:cNvPr id="56" name="d-f0" descr="Noisy latent step"/>
          <p:cNvPicPr>
            <a:picLocks noChangeAspect="1"/>
          </p:cNvPicPr>
          <p:nvPr/>
        </p:nvPicPr>
        <p:blipFill>
          <a:blip r:embed="rId8"/>
          <a:stretch>
            <a:fillRect/>
          </a:stretch>
        </p:blipFill>
        <p:spPr>
          <a:xfrm>
            <a:off x="6492240" y="4914900"/>
            <a:ext cx="777240" cy="777240"/>
          </a:xfrm>
          <a:prstGeom prst="rect">
            <a:avLst/>
          </a:prstGeom>
        </p:spPr>
      </p:pic>
      <p:sp>
        <p:nvSpPr>
          <p:cNvPr id="57" name="d-a0"/>
          <p:cNvSpPr/>
          <p:nvPr/>
        </p:nvSpPr>
        <p:spPr>
          <a:xfrm>
            <a:off x="7287768" y="5303520"/>
            <a:ext cx="192024" cy="0"/>
          </a:xfrm>
          <a:prstGeom prst="line">
            <a:avLst/>
          </a:prstGeom>
          <a:noFill/>
          <a:ln w="22225">
            <a:solidFill>
              <a:srgbClr val="22D3EE"/>
            </a:solidFill>
            <a:prstDash val="solid"/>
            <a:tailEnd type="triangle"/>
          </a:ln>
        </p:spPr>
      </p:sp>
      <p:pic>
        <p:nvPicPr>
          <p:cNvPr id="58" name="d-f1" descr="Noisy latent step"/>
          <p:cNvPicPr>
            <a:picLocks noChangeAspect="1"/>
          </p:cNvPicPr>
          <p:nvPr/>
        </p:nvPicPr>
        <p:blipFill>
          <a:blip r:embed="rId9"/>
          <a:stretch>
            <a:fillRect/>
          </a:stretch>
        </p:blipFill>
        <p:spPr>
          <a:xfrm>
            <a:off x="7498080" y="4914900"/>
            <a:ext cx="777240" cy="777240"/>
          </a:xfrm>
          <a:prstGeom prst="rect">
            <a:avLst/>
          </a:prstGeom>
        </p:spPr>
      </p:pic>
      <p:sp>
        <p:nvSpPr>
          <p:cNvPr id="59" name="d-a1"/>
          <p:cNvSpPr/>
          <p:nvPr/>
        </p:nvSpPr>
        <p:spPr>
          <a:xfrm>
            <a:off x="8293608" y="5303520"/>
            <a:ext cx="192024" cy="0"/>
          </a:xfrm>
          <a:prstGeom prst="line">
            <a:avLst/>
          </a:prstGeom>
          <a:noFill/>
          <a:ln w="22225">
            <a:solidFill>
              <a:srgbClr val="22D3EE"/>
            </a:solidFill>
            <a:prstDash val="solid"/>
            <a:tailEnd type="triangle"/>
          </a:ln>
        </p:spPr>
      </p:sp>
      <p:pic>
        <p:nvPicPr>
          <p:cNvPr id="60" name="d-f2" descr="Noisy latent step"/>
          <p:cNvPicPr>
            <a:picLocks noChangeAspect="1"/>
          </p:cNvPicPr>
          <p:nvPr/>
        </p:nvPicPr>
        <p:blipFill>
          <a:blip r:embed="rId10"/>
          <a:stretch>
            <a:fillRect/>
          </a:stretch>
        </p:blipFill>
        <p:spPr>
          <a:xfrm>
            <a:off x="8503920" y="4914900"/>
            <a:ext cx="777240" cy="777240"/>
          </a:xfrm>
          <a:prstGeom prst="rect">
            <a:avLst/>
          </a:prstGeom>
        </p:spPr>
      </p:pic>
      <p:sp>
        <p:nvSpPr>
          <p:cNvPr id="61" name="d-a2"/>
          <p:cNvSpPr/>
          <p:nvPr/>
        </p:nvSpPr>
        <p:spPr>
          <a:xfrm>
            <a:off x="9299448" y="5303520"/>
            <a:ext cx="192024" cy="0"/>
          </a:xfrm>
          <a:prstGeom prst="line">
            <a:avLst/>
          </a:prstGeom>
          <a:noFill/>
          <a:ln w="22225">
            <a:solidFill>
              <a:srgbClr val="22D3EE"/>
            </a:solidFill>
            <a:prstDash val="solid"/>
            <a:tailEnd type="triangle"/>
          </a:ln>
        </p:spPr>
      </p:sp>
      <p:pic>
        <p:nvPicPr>
          <p:cNvPr id="62" name="d-f3" descr="Noisy latent step"/>
          <p:cNvPicPr>
            <a:picLocks noChangeAspect="1"/>
          </p:cNvPicPr>
          <p:nvPr/>
        </p:nvPicPr>
        <p:blipFill>
          <a:blip r:embed="rId11"/>
          <a:stretch>
            <a:fillRect/>
          </a:stretch>
        </p:blipFill>
        <p:spPr>
          <a:xfrm>
            <a:off x="9509760" y="4914900"/>
            <a:ext cx="777240" cy="777240"/>
          </a:xfrm>
          <a:prstGeom prst="rect">
            <a:avLst/>
          </a:prstGeom>
        </p:spPr>
      </p:pic>
      <p:sp>
        <p:nvSpPr>
          <p:cNvPr id="63" name="d-a3"/>
          <p:cNvSpPr/>
          <p:nvPr/>
        </p:nvSpPr>
        <p:spPr>
          <a:xfrm>
            <a:off x="10305288" y="5303520"/>
            <a:ext cx="192024" cy="0"/>
          </a:xfrm>
          <a:prstGeom prst="line">
            <a:avLst/>
          </a:prstGeom>
          <a:noFill/>
          <a:ln w="22225">
            <a:solidFill>
              <a:srgbClr val="22D3EE"/>
            </a:solidFill>
            <a:prstDash val="solid"/>
            <a:tailEnd type="triangle"/>
          </a:ln>
        </p:spPr>
      </p:sp>
      <p:pic>
        <p:nvPicPr>
          <p:cNvPr id="64" name="d-f4" descr="Generated image"/>
          <p:cNvPicPr>
            <a:picLocks noChangeAspect="1"/>
          </p:cNvPicPr>
          <p:nvPr/>
        </p:nvPicPr>
        <p:blipFill>
          <a:blip r:embed="rId12"/>
          <a:stretch>
            <a:fillRect/>
          </a:stretch>
        </p:blipFill>
        <p:spPr>
          <a:xfrm>
            <a:off x="10515600" y="4914900"/>
            <a:ext cx="777240" cy="777240"/>
          </a:xfrm>
          <a:prstGeom prst="rect">
            <a:avLst/>
          </a:prstGeom>
        </p:spPr>
      </p:pic>
      <p:sp>
        <p:nvSpPr>
          <p:cNvPr id="65" name="d-l0"/>
          <p:cNvSpPr txBox="1"/>
          <p:nvPr/>
        </p:nvSpPr>
        <p:spPr>
          <a:xfrm>
            <a:off x="6355080" y="5733288"/>
            <a:ext cx="1097280" cy="274320"/>
          </a:xfrm>
          <a:prstGeom prst="rect">
            <a:avLst/>
          </a:prstGeom>
          <a:noFill/>
          <a:ln/>
        </p:spPr>
        <p:txBody>
          <a:bodyPr wrap="square" lIns="0" tIns="0" rIns="0" bIns="0" rtlCol="0" anchor="ctr"/>
          <a:lstStyle/>
          <a:p>
            <a:pPr marL="0" indent="0" algn="ctr">
              <a:buNone/>
            </a:pPr>
            <a:r>
              <a:rPr lang="en-US" sz="1200" dirty="0">
                <a:solidFill>
                  <a:srgbClr val="A7ACC8"/>
                </a:solidFill>
              </a:rPr>
              <a:t>pure noise</a:t>
            </a:r>
            <a:endParaRPr lang="en-US" sz="1200" dirty="0"/>
          </a:p>
        </p:txBody>
      </p:sp>
      <p:sp>
        <p:nvSpPr>
          <p:cNvPr id="66" name="d-l1"/>
          <p:cNvSpPr txBox="1"/>
          <p:nvPr/>
        </p:nvSpPr>
        <p:spPr>
          <a:xfrm>
            <a:off x="7498080" y="5733288"/>
            <a:ext cx="2743200" cy="274320"/>
          </a:xfrm>
          <a:prstGeom prst="rect">
            <a:avLst/>
          </a:prstGeom>
          <a:noFill/>
          <a:ln/>
        </p:spPr>
        <p:txBody>
          <a:bodyPr wrap="square" lIns="0" tIns="0" rIns="0" bIns="0" rtlCol="0" anchor="ctr"/>
          <a:lstStyle/>
          <a:p>
            <a:pPr marL="0" indent="0" algn="ctr">
              <a:buNone/>
            </a:pPr>
            <a:r>
              <a:rPr lang="en-US" sz="1200" dirty="0">
                <a:solidFill>
                  <a:srgbClr val="67E8F9"/>
                </a:solidFill>
              </a:rPr>
              <a:t>U-Net removes noise × 20 steps</a:t>
            </a:r>
            <a:endParaRPr lang="en-US" sz="1200" dirty="0"/>
          </a:p>
        </p:txBody>
      </p:sp>
      <p:sp>
        <p:nvSpPr>
          <p:cNvPr id="67" name="d-l2"/>
          <p:cNvSpPr txBox="1"/>
          <p:nvPr/>
        </p:nvSpPr>
        <p:spPr>
          <a:xfrm>
            <a:off x="10424160" y="5733288"/>
            <a:ext cx="822960" cy="274320"/>
          </a:xfrm>
          <a:prstGeom prst="rect">
            <a:avLst/>
          </a:prstGeom>
          <a:noFill/>
          <a:ln/>
        </p:spPr>
        <p:txBody>
          <a:bodyPr wrap="square" lIns="0" tIns="0" rIns="0" bIns="0" rtlCol="0" anchor="ctr"/>
          <a:lstStyle/>
          <a:p>
            <a:pPr marL="0" indent="0" algn="ctr">
              <a:buNone/>
            </a:pPr>
            <a:r>
              <a:rPr lang="en-US" sz="1200" dirty="0">
                <a:solidFill>
                  <a:srgbClr val="A7ACC8"/>
                </a:solidFill>
              </a:rPr>
              <a:t>image</a:t>
            </a:r>
            <a:endParaRPr lang="en-US" sz="1200" dirty="0"/>
          </a:p>
        </p:txBody>
      </p:sp>
      <p:sp>
        <p:nvSpPr>
          <p:cNvPr id="68" name="d-p"/>
          <p:cNvSpPr txBox="1"/>
          <p:nvPr/>
        </p:nvSpPr>
        <p:spPr>
          <a:xfrm>
            <a:off x="6492240" y="4553712"/>
            <a:ext cx="4846320" cy="256032"/>
          </a:xfrm>
          <a:prstGeom prst="rect">
            <a:avLst/>
          </a:prstGeom>
          <a:noFill/>
          <a:ln/>
        </p:spPr>
        <p:txBody>
          <a:bodyPr wrap="square" lIns="0" tIns="0" rIns="0" bIns="0" rtlCol="0" anchor="ctr"/>
          <a:lstStyle/>
          <a:p>
            <a:pPr marL="0" indent="0">
              <a:buNone/>
            </a:pPr>
            <a:r>
              <a:rPr lang="en-US" sz="1200" i="1" dirty="0">
                <a:solidFill>
                  <a:srgbClr val="FBBF24"/>
                </a:solidFill>
              </a:rPr>
              <a:t>prompt: "realistic portrait…"  ·  guidance 7.0</a:t>
            </a:r>
            <a:endParaRPr lang="en-US" sz="1200" dirty="0"/>
          </a:p>
        </p:txBody>
      </p:sp>
      <p:sp>
        <p:nvSpPr>
          <p:cNvPr id="69" name="arch-note"/>
          <p:cNvSpPr txBox="1"/>
          <p:nvPr/>
        </p:nvSpPr>
        <p:spPr>
          <a:xfrm>
            <a:off x="548640" y="6355080"/>
            <a:ext cx="10607040" cy="274320"/>
          </a:xfrm>
          <a:prstGeom prst="rect">
            <a:avLst/>
          </a:prstGeom>
          <a:noFill/>
          <a:ln/>
        </p:spPr>
        <p:txBody>
          <a:bodyPr wrap="square" lIns="0" tIns="0" rIns="0" bIns="0" rtlCol="0" anchor="ctr"/>
          <a:lstStyle/>
          <a:p>
            <a:pPr marL="0" indent="0">
              <a:buNone/>
            </a:pPr>
            <a:r>
              <a:rPr lang="en-US" sz="1100" i="1" dirty="0">
                <a:solidFill>
                  <a:srgbClr val="A7ACC8"/>
                </a:solidFill>
              </a:rPr>
              <a:t>Faces in the AE/VAE diagrams are a real test image and its actual reconstructions. The diffusion strip illustrates noise levels using our generated output.</a:t>
            </a:r>
            <a:endParaRPr lang="en-US" sz="1100" dirty="0"/>
          </a:p>
        </p:txBody>
      </p:sp>
      <p:sp>
        <p:nvSpPr>
          <p:cNvPr id="70"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Activity A: AE keeps more detail than VAE</a:t>
            </a:r>
            <a:endParaRPr lang="en-US" sz="3400" dirty="0"/>
          </a:p>
        </p:txBody>
      </p:sp>
      <p:pic>
        <p:nvPicPr>
          <p:cNvPr id="3" name="zoom-z_orig" descr="Original (zoomed) (zoomed)"/>
          <p:cNvPicPr>
            <a:picLocks noChangeAspect="1"/>
          </p:cNvPicPr>
          <p:nvPr/>
        </p:nvPicPr>
        <p:blipFill>
          <a:blip r:embed="rId3"/>
          <a:stretch>
            <a:fillRect/>
          </a:stretch>
        </p:blipFill>
        <p:spPr>
          <a:xfrm>
            <a:off x="548640" y="1325880"/>
            <a:ext cx="2286000" cy="2286000"/>
          </a:xfrm>
          <a:prstGeom prst="rect">
            <a:avLst/>
          </a:prstGeom>
        </p:spPr>
      </p:pic>
      <p:sp>
        <p:nvSpPr>
          <p:cNvPr id="4" name="zl-z_orig"/>
          <p:cNvSpPr txBox="1"/>
          <p:nvPr/>
        </p:nvSpPr>
        <p:spPr>
          <a:xfrm>
            <a:off x="548640" y="3657600"/>
            <a:ext cx="2286000" cy="320040"/>
          </a:xfrm>
          <a:prstGeom prst="rect">
            <a:avLst/>
          </a:prstGeom>
          <a:noFill/>
          <a:ln/>
        </p:spPr>
        <p:txBody>
          <a:bodyPr wrap="square" lIns="0" tIns="0" rIns="0" bIns="0" rtlCol="0" anchor="ctr"/>
          <a:lstStyle/>
          <a:p>
            <a:pPr marL="0" indent="0" algn="ctr">
              <a:buNone/>
            </a:pPr>
            <a:r>
              <a:rPr lang="en-US" sz="1500" b="1" dirty="0">
                <a:solidFill>
                  <a:srgbClr val="F5F6FB"/>
                </a:solidFill>
              </a:rPr>
              <a:t>Original (zoomed)</a:t>
            </a:r>
            <a:endParaRPr lang="en-US" sz="1500" dirty="0"/>
          </a:p>
        </p:txBody>
      </p:sp>
      <p:pic>
        <p:nvPicPr>
          <p:cNvPr id="5" name="zoom-z_ae" descr="Autoencoder (zoomed)"/>
          <p:cNvPicPr>
            <a:picLocks noChangeAspect="1"/>
          </p:cNvPicPr>
          <p:nvPr/>
        </p:nvPicPr>
        <p:blipFill>
          <a:blip r:embed="rId4"/>
          <a:stretch>
            <a:fillRect/>
          </a:stretch>
        </p:blipFill>
        <p:spPr>
          <a:xfrm>
            <a:off x="3063240" y="1325880"/>
            <a:ext cx="2286000" cy="2286000"/>
          </a:xfrm>
          <a:prstGeom prst="rect">
            <a:avLst/>
          </a:prstGeom>
        </p:spPr>
      </p:pic>
      <p:sp>
        <p:nvSpPr>
          <p:cNvPr id="6" name="zl-z_ae"/>
          <p:cNvSpPr txBox="1"/>
          <p:nvPr/>
        </p:nvSpPr>
        <p:spPr>
          <a:xfrm>
            <a:off x="3063240" y="3657600"/>
            <a:ext cx="2286000" cy="320040"/>
          </a:xfrm>
          <a:prstGeom prst="rect">
            <a:avLst/>
          </a:prstGeom>
          <a:noFill/>
          <a:ln/>
        </p:spPr>
        <p:txBody>
          <a:bodyPr wrap="square" lIns="0" tIns="0" rIns="0" bIns="0" rtlCol="0" anchor="ctr"/>
          <a:lstStyle/>
          <a:p>
            <a:pPr marL="0" indent="0" algn="ctr">
              <a:buNone/>
            </a:pPr>
            <a:r>
              <a:rPr lang="en-US" sz="1500" b="1" dirty="0">
                <a:solidFill>
                  <a:srgbClr val="C4B5FD"/>
                </a:solidFill>
              </a:rPr>
              <a:t>Autoencoder</a:t>
            </a:r>
            <a:endParaRPr lang="en-US" sz="1500" dirty="0"/>
          </a:p>
        </p:txBody>
      </p:sp>
      <p:pic>
        <p:nvPicPr>
          <p:cNvPr id="7" name="zoom-z_vae" descr="VAE (zoomed)"/>
          <p:cNvPicPr>
            <a:picLocks noChangeAspect="1"/>
          </p:cNvPicPr>
          <p:nvPr/>
        </p:nvPicPr>
        <p:blipFill>
          <a:blip r:embed="rId5"/>
          <a:stretch>
            <a:fillRect/>
          </a:stretch>
        </p:blipFill>
        <p:spPr>
          <a:xfrm>
            <a:off x="5577840" y="1325880"/>
            <a:ext cx="2286000" cy="2286000"/>
          </a:xfrm>
          <a:prstGeom prst="rect">
            <a:avLst/>
          </a:prstGeom>
        </p:spPr>
      </p:pic>
      <p:sp>
        <p:nvSpPr>
          <p:cNvPr id="8" name="zl-z_vae"/>
          <p:cNvSpPr txBox="1"/>
          <p:nvPr/>
        </p:nvSpPr>
        <p:spPr>
          <a:xfrm>
            <a:off x="5577840" y="3657600"/>
            <a:ext cx="2286000" cy="320040"/>
          </a:xfrm>
          <a:prstGeom prst="rect">
            <a:avLst/>
          </a:prstGeom>
          <a:noFill/>
          <a:ln/>
        </p:spPr>
        <p:txBody>
          <a:bodyPr wrap="square" lIns="0" tIns="0" rIns="0" bIns="0" rtlCol="0" anchor="ctr"/>
          <a:lstStyle/>
          <a:p>
            <a:pPr marL="0" indent="0" algn="ctr">
              <a:buNone/>
            </a:pPr>
            <a:r>
              <a:rPr lang="en-US" sz="1500" b="1" dirty="0">
                <a:solidFill>
                  <a:srgbClr val="C4B5FD"/>
                </a:solidFill>
              </a:rPr>
              <a:t>VAE</a:t>
            </a:r>
            <a:endParaRPr lang="en-US" sz="1500" dirty="0"/>
          </a:p>
        </p:txBody>
      </p:sp>
      <p:sp>
        <p:nvSpPr>
          <p:cNvPr id="9" name="strip-card"/>
          <p:cNvSpPr/>
          <p:nvPr/>
        </p:nvSpPr>
        <p:spPr>
          <a:xfrm>
            <a:off x="548640" y="4160520"/>
            <a:ext cx="7223760" cy="1828800"/>
          </a:xfrm>
          <a:prstGeom prst="roundRect">
            <a:avLst>
              <a:gd name="adj" fmla="val 7500"/>
            </a:avLst>
          </a:prstGeom>
          <a:solidFill>
            <a:srgbClr val="FFFFFF"/>
          </a:solidFill>
          <a:ln w="12700">
            <a:solidFill>
              <a:srgbClr val="FFFFFF"/>
            </a:solidFill>
            <a:prstDash val="solid"/>
          </a:ln>
        </p:spPr>
      </p:sp>
      <p:pic>
        <p:nvPicPr>
          <p:cNvPr id="10" name="strip-ae" descr="All AE reconstructions"/>
          <p:cNvPicPr>
            <a:picLocks noChangeAspect="1"/>
          </p:cNvPicPr>
          <p:nvPr/>
        </p:nvPicPr>
        <p:blipFill>
          <a:blip r:embed="rId6"/>
          <a:stretch>
            <a:fillRect/>
          </a:stretch>
        </p:blipFill>
        <p:spPr>
          <a:xfrm>
            <a:off x="685800" y="4251960"/>
            <a:ext cx="3429000" cy="875489"/>
          </a:xfrm>
          <a:prstGeom prst="rect">
            <a:avLst/>
          </a:prstGeom>
        </p:spPr>
      </p:pic>
      <p:pic>
        <p:nvPicPr>
          <p:cNvPr id="11" name="strip-vae" descr="All VAE reconstructions"/>
          <p:cNvPicPr>
            <a:picLocks noChangeAspect="1"/>
          </p:cNvPicPr>
          <p:nvPr/>
        </p:nvPicPr>
        <p:blipFill>
          <a:blip r:embed="rId7"/>
          <a:stretch>
            <a:fillRect/>
          </a:stretch>
        </p:blipFill>
        <p:spPr>
          <a:xfrm>
            <a:off x="4206240" y="4251960"/>
            <a:ext cx="3429000" cy="875489"/>
          </a:xfrm>
          <a:prstGeom prst="rect">
            <a:avLst/>
          </a:prstGeom>
        </p:spPr>
      </p:pic>
      <p:sp>
        <p:nvSpPr>
          <p:cNvPr id="12" name="sl-ae"/>
          <p:cNvSpPr txBox="1"/>
          <p:nvPr/>
        </p:nvSpPr>
        <p:spPr>
          <a:xfrm>
            <a:off x="685800" y="5193792"/>
            <a:ext cx="3429000" cy="274320"/>
          </a:xfrm>
          <a:prstGeom prst="rect">
            <a:avLst/>
          </a:prstGeom>
          <a:noFill/>
          <a:ln/>
        </p:spPr>
        <p:txBody>
          <a:bodyPr wrap="square" lIns="0" tIns="0" rIns="0" bIns="0" rtlCol="0" anchor="ctr"/>
          <a:lstStyle/>
          <a:p>
            <a:pPr marL="0" indent="0" algn="ctr">
              <a:buNone/>
            </a:pPr>
            <a:r>
              <a:rPr lang="en-US" sz="1200" b="1" dirty="0">
                <a:solidFill>
                  <a:srgbClr val="0E1124"/>
                </a:solidFill>
              </a:rPr>
              <a:t>AE: all 8 test faces</a:t>
            </a:r>
            <a:endParaRPr lang="en-US" sz="1200" dirty="0"/>
          </a:p>
        </p:txBody>
      </p:sp>
      <p:sp>
        <p:nvSpPr>
          <p:cNvPr id="13" name="sl-vae"/>
          <p:cNvSpPr txBox="1"/>
          <p:nvPr/>
        </p:nvSpPr>
        <p:spPr>
          <a:xfrm>
            <a:off x="4206240" y="5193792"/>
            <a:ext cx="3429000" cy="274320"/>
          </a:xfrm>
          <a:prstGeom prst="rect">
            <a:avLst/>
          </a:prstGeom>
          <a:noFill/>
          <a:ln/>
        </p:spPr>
        <p:txBody>
          <a:bodyPr wrap="square" lIns="0" tIns="0" rIns="0" bIns="0" rtlCol="0" anchor="ctr"/>
          <a:lstStyle/>
          <a:p>
            <a:pPr marL="0" indent="0" algn="ctr">
              <a:buNone/>
            </a:pPr>
            <a:r>
              <a:rPr lang="en-US" sz="1200" b="1" dirty="0">
                <a:solidFill>
                  <a:srgbClr val="0E1124"/>
                </a:solidFill>
              </a:rPr>
              <a:t>VAE: all 8 test faces</a:t>
            </a:r>
            <a:endParaRPr lang="en-US" sz="1200" dirty="0"/>
          </a:p>
        </p:txBody>
      </p:sp>
      <p:sp>
        <p:nvSpPr>
          <p:cNvPr id="14" name="sl-cap"/>
          <p:cNvSpPr txBox="1"/>
          <p:nvPr/>
        </p:nvSpPr>
        <p:spPr>
          <a:xfrm>
            <a:off x="685800" y="5623560"/>
            <a:ext cx="6949440" cy="274320"/>
          </a:xfrm>
          <a:prstGeom prst="rect">
            <a:avLst/>
          </a:prstGeom>
          <a:noFill/>
          <a:ln/>
        </p:spPr>
        <p:txBody>
          <a:bodyPr wrap="square" lIns="0" tIns="0" rIns="0" bIns="0" rtlCol="0" anchor="ctr"/>
          <a:lstStyle/>
          <a:p>
            <a:pPr marL="0" indent="0" algn="ctr">
              <a:buNone/>
            </a:pPr>
            <a:r>
              <a:rPr lang="en-US" sz="1100" i="1" dirty="0">
                <a:solidFill>
                  <a:srgbClr val="5B6075"/>
                </a:solidFill>
              </a:rPr>
              <a:t>Notebook output · top row original, bottom row reconstructed</a:t>
            </a:r>
            <a:endParaRPr lang="en-US" sz="1100" dirty="0"/>
          </a:p>
        </p:txBody>
      </p:sp>
      <p:sp>
        <p:nvSpPr>
          <p:cNvPr id="15" name="stat-ae"/>
          <p:cNvSpPr txBox="1"/>
          <p:nvPr/>
        </p:nvSpPr>
        <p:spPr>
          <a:xfrm>
            <a:off x="8138160" y="1325880"/>
            <a:ext cx="1737360" cy="731520"/>
          </a:xfrm>
          <a:prstGeom prst="rect">
            <a:avLst/>
          </a:prstGeom>
          <a:noFill/>
          <a:ln/>
        </p:spPr>
        <p:txBody>
          <a:bodyPr wrap="square" lIns="0" tIns="0" rIns="0" bIns="0" rtlCol="0" anchor="ctr"/>
          <a:lstStyle/>
          <a:p>
            <a:pPr marL="0" indent="0">
              <a:buNone/>
            </a:pPr>
            <a:r>
              <a:rPr lang="en-US" sz="4000" b="1" dirty="0">
                <a:solidFill>
                  <a:srgbClr val="FBBF24"/>
                </a:solidFill>
                <a:latin typeface="Cambria" pitchFamily="34" charset="0"/>
                <a:ea typeface="Cambria" pitchFamily="34" charset="-122"/>
                <a:cs typeface="Cambria" pitchFamily="34" charset="-120"/>
              </a:rPr>
              <a:t>0.0144</a:t>
            </a:r>
            <a:endParaRPr lang="en-US" sz="4000" dirty="0"/>
          </a:p>
        </p:txBody>
      </p:sp>
      <p:sp>
        <p:nvSpPr>
          <p:cNvPr id="16" name="statl-ae"/>
          <p:cNvSpPr txBox="1"/>
          <p:nvPr/>
        </p:nvSpPr>
        <p:spPr>
          <a:xfrm>
            <a:off x="8138160" y="2057400"/>
            <a:ext cx="1737360" cy="411480"/>
          </a:xfrm>
          <a:prstGeom prst="rect">
            <a:avLst/>
          </a:prstGeom>
          <a:noFill/>
          <a:ln/>
        </p:spPr>
        <p:txBody>
          <a:bodyPr wrap="square" lIns="0" tIns="0" rIns="0" bIns="0" rtlCol="0" anchor="ctr"/>
          <a:lstStyle/>
          <a:p>
            <a:pPr marL="0" indent="0">
              <a:buNone/>
            </a:pPr>
            <a:r>
              <a:rPr lang="en-US" sz="1300" dirty="0">
                <a:solidFill>
                  <a:srgbClr val="A7ACC8"/>
                </a:solidFill>
              </a:rPr>
              <a:t>AE validation MSE</a:t>
            </a:r>
            <a:endParaRPr lang="en-US" sz="1300" dirty="0"/>
          </a:p>
        </p:txBody>
      </p:sp>
      <p:sp>
        <p:nvSpPr>
          <p:cNvPr id="17" name="stat-drop"/>
          <p:cNvSpPr txBox="1"/>
          <p:nvPr/>
        </p:nvSpPr>
        <p:spPr>
          <a:xfrm>
            <a:off x="9966960" y="1325880"/>
            <a:ext cx="1737360" cy="731520"/>
          </a:xfrm>
          <a:prstGeom prst="rect">
            <a:avLst/>
          </a:prstGeom>
          <a:noFill/>
          <a:ln/>
        </p:spPr>
        <p:txBody>
          <a:bodyPr wrap="square" lIns="0" tIns="0" rIns="0" bIns="0" rtlCol="0" anchor="ctr"/>
          <a:lstStyle/>
          <a:p>
            <a:pPr marL="0" indent="0">
              <a:buNone/>
            </a:pPr>
            <a:r>
              <a:rPr lang="en-US" sz="4000" b="1" dirty="0">
                <a:solidFill>
                  <a:srgbClr val="FBBF24"/>
                </a:solidFill>
                <a:latin typeface="Cambria" pitchFamily="34" charset="0"/>
                <a:ea typeface="Cambria" pitchFamily="34" charset="-122"/>
                <a:cs typeface="Cambria" pitchFamily="34" charset="-120"/>
              </a:rPr>
              <a:t>−74%</a:t>
            </a:r>
            <a:endParaRPr lang="en-US" sz="4000" dirty="0"/>
          </a:p>
        </p:txBody>
      </p:sp>
      <p:sp>
        <p:nvSpPr>
          <p:cNvPr id="18" name="statl-drop"/>
          <p:cNvSpPr txBox="1"/>
          <p:nvPr/>
        </p:nvSpPr>
        <p:spPr>
          <a:xfrm>
            <a:off x="9966960" y="2057400"/>
            <a:ext cx="1737360" cy="411480"/>
          </a:xfrm>
          <a:prstGeom prst="rect">
            <a:avLst/>
          </a:prstGeom>
          <a:noFill/>
          <a:ln/>
        </p:spPr>
        <p:txBody>
          <a:bodyPr wrap="square" lIns="0" tIns="0" rIns="0" bIns="0" rtlCol="0" anchor="ctr"/>
          <a:lstStyle/>
          <a:p>
            <a:pPr marL="0" indent="0">
              <a:buNone/>
            </a:pPr>
            <a:r>
              <a:rPr lang="en-US" sz="1300" dirty="0">
                <a:solidFill>
                  <a:srgbClr val="A7ACC8"/>
                </a:solidFill>
              </a:rPr>
              <a:t>MSE drop in 10 epochs</a:t>
            </a:r>
            <a:endParaRPr lang="en-US" sz="1300" dirty="0"/>
          </a:p>
        </p:txBody>
      </p:sp>
      <p:pic>
        <p:nvPicPr>
          <p:cNvPr id="19" name="fa-i0" descr="preencoded.png"/>
          <p:cNvPicPr>
            <a:picLocks noChangeAspect="1"/>
          </p:cNvPicPr>
          <p:nvPr/>
        </p:nvPicPr>
        <p:blipFill>
          <a:blip r:embed="rId8"/>
          <a:stretch>
            <a:fillRect/>
          </a:stretch>
        </p:blipFill>
        <p:spPr>
          <a:xfrm>
            <a:off x="8138160" y="2834640"/>
            <a:ext cx="274320" cy="274320"/>
          </a:xfrm>
          <a:prstGeom prst="rect">
            <a:avLst/>
          </a:prstGeom>
        </p:spPr>
      </p:pic>
      <p:sp>
        <p:nvSpPr>
          <p:cNvPr id="20" name="fa-t0"/>
          <p:cNvSpPr txBox="1"/>
          <p:nvPr/>
        </p:nvSpPr>
        <p:spPr>
          <a:xfrm>
            <a:off x="8549640" y="2761488"/>
            <a:ext cx="3154680" cy="713232"/>
          </a:xfrm>
          <a:prstGeom prst="rect">
            <a:avLst/>
          </a:prstGeom>
          <a:noFill/>
          <a:ln/>
        </p:spPr>
        <p:txBody>
          <a:bodyPr wrap="square" lIns="0" tIns="0" rIns="0" bIns="0" rtlCol="0" anchor="t"/>
          <a:lstStyle/>
          <a:p>
            <a:pPr marL="0" indent="0">
              <a:buNone/>
            </a:pPr>
            <a:r>
              <a:rPr lang="en-US" sz="1500" dirty="0">
                <a:solidFill>
                  <a:srgbClr val="F5F6FB"/>
                </a:solidFill>
              </a:rPr>
              <a:t>AE keeps face shape, skin tone and lighting</a:t>
            </a:r>
            <a:endParaRPr lang="en-US" sz="1500" dirty="0"/>
          </a:p>
        </p:txBody>
      </p:sp>
      <p:pic>
        <p:nvPicPr>
          <p:cNvPr id="21" name="fa-i1" descr="preencoded.png"/>
          <p:cNvPicPr>
            <a:picLocks noChangeAspect="1"/>
          </p:cNvPicPr>
          <p:nvPr/>
        </p:nvPicPr>
        <p:blipFill>
          <a:blip r:embed="rId8"/>
          <a:stretch>
            <a:fillRect/>
          </a:stretch>
        </p:blipFill>
        <p:spPr>
          <a:xfrm>
            <a:off x="8138160" y="3639312"/>
            <a:ext cx="274320" cy="274320"/>
          </a:xfrm>
          <a:prstGeom prst="rect">
            <a:avLst/>
          </a:prstGeom>
        </p:spPr>
      </p:pic>
      <p:sp>
        <p:nvSpPr>
          <p:cNvPr id="22" name="fa-t1"/>
          <p:cNvSpPr txBox="1"/>
          <p:nvPr/>
        </p:nvSpPr>
        <p:spPr>
          <a:xfrm>
            <a:off x="8549640" y="3566160"/>
            <a:ext cx="3154680" cy="713232"/>
          </a:xfrm>
          <a:prstGeom prst="rect">
            <a:avLst/>
          </a:prstGeom>
          <a:noFill/>
          <a:ln/>
        </p:spPr>
        <p:txBody>
          <a:bodyPr wrap="square" lIns="0" tIns="0" rIns="0" bIns="0" rtlCol="0" anchor="t"/>
          <a:lstStyle/>
          <a:p>
            <a:pPr marL="0" indent="0">
              <a:buNone/>
            </a:pPr>
            <a:r>
              <a:rPr lang="en-US" sz="1500" dirty="0">
                <a:solidFill>
                  <a:srgbClr val="F5F6FB"/>
                </a:solidFill>
              </a:rPr>
              <a:t>Hair, eyes and edges get blurred</a:t>
            </a:r>
            <a:endParaRPr lang="en-US" sz="1500" dirty="0"/>
          </a:p>
        </p:txBody>
      </p:sp>
      <p:pic>
        <p:nvPicPr>
          <p:cNvPr id="23" name="fa-i2" descr="preencoded.png"/>
          <p:cNvPicPr>
            <a:picLocks noChangeAspect="1"/>
          </p:cNvPicPr>
          <p:nvPr/>
        </p:nvPicPr>
        <p:blipFill>
          <a:blip r:embed="rId8"/>
          <a:stretch>
            <a:fillRect/>
          </a:stretch>
        </p:blipFill>
        <p:spPr>
          <a:xfrm>
            <a:off x="8138160" y="4443984"/>
            <a:ext cx="274320" cy="274320"/>
          </a:xfrm>
          <a:prstGeom prst="rect">
            <a:avLst/>
          </a:prstGeom>
        </p:spPr>
      </p:pic>
      <p:sp>
        <p:nvSpPr>
          <p:cNvPr id="24" name="fa-t2"/>
          <p:cNvSpPr txBox="1"/>
          <p:nvPr/>
        </p:nvSpPr>
        <p:spPr>
          <a:xfrm>
            <a:off x="8549640" y="4370832"/>
            <a:ext cx="3154680" cy="713232"/>
          </a:xfrm>
          <a:prstGeom prst="rect">
            <a:avLst/>
          </a:prstGeom>
          <a:noFill/>
          <a:ln/>
        </p:spPr>
        <p:txBody>
          <a:bodyPr wrap="square" lIns="0" tIns="0" rIns="0" bIns="0" rtlCol="0" anchor="t"/>
          <a:lstStyle/>
          <a:p>
            <a:pPr marL="0" indent="0">
              <a:buNone/>
            </a:pPr>
            <a:r>
              <a:rPr lang="en-US" sz="1500" dirty="0">
                <a:solidFill>
                  <a:srgbClr val="F5F6FB"/>
                </a:solidFill>
              </a:rPr>
              <a:t>VAE faces look smoother and "averaged"</a:t>
            </a:r>
            <a:endParaRPr lang="en-US" sz="1500" dirty="0"/>
          </a:p>
        </p:txBody>
      </p:sp>
      <p:pic>
        <p:nvPicPr>
          <p:cNvPr id="25" name="fa-i3" descr="preencoded.png"/>
          <p:cNvPicPr>
            <a:picLocks noChangeAspect="1"/>
          </p:cNvPicPr>
          <p:nvPr/>
        </p:nvPicPr>
        <p:blipFill>
          <a:blip r:embed="rId8"/>
          <a:stretch>
            <a:fillRect/>
          </a:stretch>
        </p:blipFill>
        <p:spPr>
          <a:xfrm>
            <a:off x="8138160" y="5248656"/>
            <a:ext cx="274320" cy="274320"/>
          </a:xfrm>
          <a:prstGeom prst="rect">
            <a:avLst/>
          </a:prstGeom>
        </p:spPr>
      </p:pic>
      <p:sp>
        <p:nvSpPr>
          <p:cNvPr id="26" name="fa-t3"/>
          <p:cNvSpPr txBox="1"/>
          <p:nvPr/>
        </p:nvSpPr>
        <p:spPr>
          <a:xfrm>
            <a:off x="8549640" y="5175504"/>
            <a:ext cx="3154680" cy="713232"/>
          </a:xfrm>
          <a:prstGeom prst="rect">
            <a:avLst/>
          </a:prstGeom>
          <a:noFill/>
          <a:ln/>
        </p:spPr>
        <p:txBody>
          <a:bodyPr wrap="square" lIns="0" tIns="0" rIns="0" bIns="0" rtlCol="0" anchor="t"/>
          <a:lstStyle/>
          <a:p>
            <a:pPr marL="0" indent="0">
              <a:buNone/>
            </a:pPr>
            <a:r>
              <a:rPr lang="en-US" sz="1500" dirty="0">
                <a:solidFill>
                  <a:srgbClr val="F5F6FB"/>
                </a:solidFill>
              </a:rPr>
              <a:t>Main difference: loss of detail, not distortion</a:t>
            </a:r>
            <a:endParaRPr lang="en-US" sz="1500" dirty="0"/>
          </a:p>
        </p:txBody>
      </p:sp>
      <p:sp>
        <p:nvSpPr>
          <p:cNvPr id="27"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39" y="320040"/>
            <a:ext cx="11519715" cy="822960"/>
          </a:xfrm>
          <a:prstGeom prst="rect">
            <a:avLst/>
          </a:prstGeom>
          <a:noFill/>
          <a:ln/>
        </p:spPr>
        <p:txBody>
          <a:bodyPr wrap="square" rtlCol="0" anchor="ctr"/>
          <a:lstStyle/>
          <a:p>
            <a:r>
              <a:rPr lang="en-US" sz="2800" b="1" dirty="0">
                <a:solidFill>
                  <a:schemeClr val="bg1"/>
                </a:solidFill>
                <a:latin typeface="Cambria" pitchFamily="34" charset="0"/>
                <a:ea typeface="Cambria" pitchFamily="34" charset="-122"/>
                <a:cs typeface="Cambria" pitchFamily="34" charset="-120"/>
              </a:rPr>
              <a:t>Activity B: </a:t>
            </a:r>
            <a:r>
              <a:rPr lang="en-IN" sz="2800" dirty="0"/>
              <a:t>Pretrained Diffusion Produces More Realistic Images in Our Experiment</a:t>
            </a:r>
            <a:endParaRPr lang="en-US" sz="4000" dirty="0"/>
          </a:p>
        </p:txBody>
      </p:sp>
      <p:pic>
        <p:nvPicPr>
          <p:cNvPr id="3" name="img-gan" descr="DCGAN faces at epoch 30"/>
          <p:cNvPicPr>
            <a:picLocks noChangeAspect="1"/>
          </p:cNvPicPr>
          <p:nvPr/>
        </p:nvPicPr>
        <p:blipFill>
          <a:blip r:embed="rId3"/>
          <a:stretch>
            <a:fillRect/>
          </a:stretch>
        </p:blipFill>
        <p:spPr>
          <a:xfrm>
            <a:off x="548640" y="1371600"/>
            <a:ext cx="3566160" cy="3613290"/>
          </a:xfrm>
          <a:prstGeom prst="rect">
            <a:avLst/>
          </a:prstGeom>
        </p:spPr>
      </p:pic>
      <p:sp>
        <p:nvSpPr>
          <p:cNvPr id="4" name="pg-bg"/>
          <p:cNvSpPr/>
          <p:nvPr/>
        </p:nvSpPr>
        <p:spPr>
          <a:xfrm>
            <a:off x="548640" y="5120640"/>
            <a:ext cx="2377440" cy="329184"/>
          </a:xfrm>
          <a:prstGeom prst="roundRect">
            <a:avLst>
              <a:gd name="adj" fmla="val 50000"/>
            </a:avLst>
          </a:prstGeom>
          <a:solidFill>
            <a:srgbClr val="22D3EE"/>
          </a:solidFill>
          <a:ln w="12700">
            <a:solidFill>
              <a:srgbClr val="22D3EE"/>
            </a:solidFill>
            <a:prstDash val="solid"/>
          </a:ln>
        </p:spPr>
      </p:sp>
      <p:sp>
        <p:nvSpPr>
          <p:cNvPr id="5" name="pg"/>
          <p:cNvSpPr txBox="1"/>
          <p:nvPr/>
        </p:nvSpPr>
        <p:spPr>
          <a:xfrm>
            <a:off x="548640" y="5120640"/>
            <a:ext cx="2377440" cy="329184"/>
          </a:xfrm>
          <a:prstGeom prst="rect">
            <a:avLst/>
          </a:prstGeom>
          <a:noFill/>
          <a:ln/>
        </p:spPr>
        <p:txBody>
          <a:bodyPr wrap="square" lIns="0" tIns="0" rIns="0" bIns="0" rtlCol="0" anchor="ctr"/>
          <a:lstStyle/>
          <a:p>
            <a:pPr marL="0" indent="0" algn="ctr">
              <a:buNone/>
            </a:pPr>
            <a:r>
              <a:rPr lang="en-US" sz="1200" b="1" dirty="0">
                <a:solidFill>
                  <a:srgbClr val="0E1124"/>
                </a:solidFill>
              </a:rPr>
              <a:t>DCGAN · TRAINED BY US</a:t>
            </a:r>
            <a:endParaRPr lang="en-US" sz="1200" dirty="0"/>
          </a:p>
        </p:txBody>
      </p:sp>
      <p:sp>
        <p:nvSpPr>
          <p:cNvPr id="6" name="cg"/>
          <p:cNvSpPr txBox="1"/>
          <p:nvPr/>
        </p:nvSpPr>
        <p:spPr>
          <a:xfrm>
            <a:off x="548640" y="5532120"/>
            <a:ext cx="3566160" cy="320040"/>
          </a:xfrm>
          <a:prstGeom prst="rect">
            <a:avLst/>
          </a:prstGeom>
          <a:noFill/>
          <a:ln/>
        </p:spPr>
        <p:txBody>
          <a:bodyPr wrap="square" lIns="0" tIns="0" rIns="0" bIns="0" rtlCol="0" anchor="ctr"/>
          <a:lstStyle/>
          <a:p>
            <a:pPr marL="0" indent="0">
              <a:buNone/>
            </a:pPr>
            <a:r>
              <a:rPr lang="en-US" sz="1300" dirty="0">
                <a:solidFill>
                  <a:srgbClr val="A7ACC8"/>
                </a:solidFill>
              </a:rPr>
              <a:t>30 epochs · 64×64 · G 0.79 / D 1.38</a:t>
            </a:r>
            <a:endParaRPr lang="en-US" sz="1300" dirty="0"/>
          </a:p>
        </p:txBody>
      </p:sp>
      <p:pic>
        <p:nvPicPr>
          <p:cNvPr id="7" name="img-diff" descr="Diffusion generated portrait"/>
          <p:cNvPicPr>
            <a:picLocks noChangeAspect="1"/>
          </p:cNvPicPr>
          <p:nvPr/>
        </p:nvPicPr>
        <p:blipFill>
          <a:blip r:embed="rId4"/>
          <a:stretch>
            <a:fillRect/>
          </a:stretch>
        </p:blipFill>
        <p:spPr>
          <a:xfrm>
            <a:off x="4389120" y="1371600"/>
            <a:ext cx="3611880" cy="3611880"/>
          </a:xfrm>
          <a:prstGeom prst="rect">
            <a:avLst/>
          </a:prstGeom>
        </p:spPr>
      </p:pic>
      <p:sp>
        <p:nvSpPr>
          <p:cNvPr id="8" name="vs"/>
          <p:cNvSpPr/>
          <p:nvPr/>
        </p:nvSpPr>
        <p:spPr>
          <a:xfrm>
            <a:off x="3904488" y="2807208"/>
            <a:ext cx="777240" cy="777240"/>
          </a:xfrm>
          <a:prstGeom prst="ellipse">
            <a:avLst/>
          </a:prstGeom>
          <a:solidFill>
            <a:srgbClr val="FBBF24"/>
          </a:solidFill>
          <a:ln w="38100">
            <a:solidFill>
              <a:srgbClr val="0E1124"/>
            </a:solidFill>
            <a:prstDash val="solid"/>
          </a:ln>
        </p:spPr>
      </p:sp>
      <p:sp>
        <p:nvSpPr>
          <p:cNvPr id="9" name="vs-t"/>
          <p:cNvSpPr txBox="1"/>
          <p:nvPr/>
        </p:nvSpPr>
        <p:spPr>
          <a:xfrm>
            <a:off x="3904488" y="2807208"/>
            <a:ext cx="777240" cy="777240"/>
          </a:xfrm>
          <a:prstGeom prst="rect">
            <a:avLst/>
          </a:prstGeom>
          <a:noFill/>
          <a:ln/>
        </p:spPr>
        <p:txBody>
          <a:bodyPr wrap="square" lIns="0" tIns="0" rIns="0" bIns="0" rtlCol="0" anchor="ctr"/>
          <a:lstStyle/>
          <a:p>
            <a:pPr marL="0" indent="0" algn="ctr">
              <a:buNone/>
            </a:pPr>
            <a:r>
              <a:rPr lang="en-US" sz="1800" b="1" dirty="0">
                <a:solidFill>
                  <a:srgbClr val="0E1124"/>
                </a:solidFill>
                <a:latin typeface="Cambria" pitchFamily="34" charset="0"/>
                <a:ea typeface="Cambria" pitchFamily="34" charset="-122"/>
                <a:cs typeface="Cambria" pitchFamily="34" charset="-120"/>
              </a:rPr>
              <a:t>VS</a:t>
            </a:r>
            <a:endParaRPr lang="en-US" sz="1800" dirty="0"/>
          </a:p>
        </p:txBody>
      </p:sp>
      <p:sp>
        <p:nvSpPr>
          <p:cNvPr id="10" name="pd-bg"/>
          <p:cNvSpPr/>
          <p:nvPr/>
        </p:nvSpPr>
        <p:spPr>
          <a:xfrm>
            <a:off x="4389120" y="5120640"/>
            <a:ext cx="2651760" cy="329184"/>
          </a:xfrm>
          <a:prstGeom prst="roundRect">
            <a:avLst>
              <a:gd name="adj" fmla="val 50000"/>
            </a:avLst>
          </a:prstGeom>
          <a:solidFill>
            <a:srgbClr val="FBBF24"/>
          </a:solidFill>
          <a:ln w="12700">
            <a:solidFill>
              <a:srgbClr val="FBBF24"/>
            </a:solidFill>
            <a:prstDash val="solid"/>
          </a:ln>
        </p:spPr>
      </p:sp>
      <p:sp>
        <p:nvSpPr>
          <p:cNvPr id="11" name="pd"/>
          <p:cNvSpPr txBox="1"/>
          <p:nvPr/>
        </p:nvSpPr>
        <p:spPr>
          <a:xfrm>
            <a:off x="4389120" y="5120640"/>
            <a:ext cx="2651760" cy="329184"/>
          </a:xfrm>
          <a:prstGeom prst="rect">
            <a:avLst/>
          </a:prstGeom>
          <a:noFill/>
          <a:ln/>
        </p:spPr>
        <p:txBody>
          <a:bodyPr wrap="square" lIns="0" tIns="0" rIns="0" bIns="0" rtlCol="0" anchor="ctr"/>
          <a:lstStyle/>
          <a:p>
            <a:pPr marL="0" indent="0" algn="ctr">
              <a:buNone/>
            </a:pPr>
            <a:r>
              <a:rPr lang="en-US" sz="1200" b="1" dirty="0">
                <a:solidFill>
                  <a:srgbClr val="0E1124"/>
                </a:solidFill>
              </a:rPr>
              <a:t>DIFFUSION · PRETRAINED</a:t>
            </a:r>
            <a:endParaRPr lang="en-US" sz="1200" dirty="0"/>
          </a:p>
        </p:txBody>
      </p:sp>
      <p:sp>
        <p:nvSpPr>
          <p:cNvPr id="12" name="cd"/>
          <p:cNvSpPr txBox="1"/>
          <p:nvPr/>
        </p:nvSpPr>
        <p:spPr>
          <a:xfrm>
            <a:off x="4389120" y="5532120"/>
            <a:ext cx="3611880" cy="320040"/>
          </a:xfrm>
          <a:prstGeom prst="rect">
            <a:avLst/>
          </a:prstGeom>
          <a:noFill/>
          <a:ln/>
        </p:spPr>
        <p:txBody>
          <a:bodyPr wrap="square" lIns="0" tIns="0" rIns="0" bIns="0" rtlCol="0" anchor="ctr"/>
          <a:lstStyle/>
          <a:p>
            <a:pPr marL="0" indent="0">
              <a:buNone/>
            </a:pPr>
            <a:r>
              <a:rPr lang="en-US" sz="1300" dirty="0">
                <a:solidFill>
                  <a:srgbClr val="A7ACC8"/>
                </a:solidFill>
              </a:rPr>
              <a:t>segmind/tiny-sd · 20 steps · guidance 7.0</a:t>
            </a:r>
            <a:endParaRPr lang="en-US" sz="1300" dirty="0"/>
          </a:p>
        </p:txBody>
      </p:sp>
      <p:sp>
        <p:nvSpPr>
          <p:cNvPr id="13" name="b-card"/>
          <p:cNvSpPr/>
          <p:nvPr/>
        </p:nvSpPr>
        <p:spPr>
          <a:xfrm>
            <a:off x="8321040" y="1371600"/>
            <a:ext cx="3337560" cy="4526280"/>
          </a:xfrm>
          <a:prstGeom prst="roundRect">
            <a:avLst>
              <a:gd name="adj" fmla="val 4110"/>
            </a:avLst>
          </a:prstGeom>
          <a:solidFill>
            <a:srgbClr val="181C3A"/>
          </a:solidFill>
          <a:ln w="12700">
            <a:solidFill>
              <a:srgbClr val="181C3A"/>
            </a:solidFill>
            <a:prstDash val="solid"/>
          </a:ln>
        </p:spPr>
      </p:sp>
      <p:sp>
        <p:nvSpPr>
          <p:cNvPr id="14" name="bh"/>
          <p:cNvSpPr txBox="1"/>
          <p:nvPr/>
        </p:nvSpPr>
        <p:spPr>
          <a:xfrm>
            <a:off x="8549640" y="1554480"/>
            <a:ext cx="2926080" cy="411480"/>
          </a:xfrm>
          <a:prstGeom prst="rect">
            <a:avLst/>
          </a:prstGeom>
          <a:noFill/>
          <a:ln/>
        </p:spPr>
        <p:txBody>
          <a:bodyPr wrap="square" lIns="0" tIns="0" rIns="0" bIns="0" rtlCol="0" anchor="ctr"/>
          <a:lstStyle/>
          <a:p>
            <a:pPr marL="0" indent="0">
              <a:buNone/>
            </a:pPr>
            <a:r>
              <a:rPr lang="en-US" sz="1800" b="1" dirty="0">
                <a:solidFill>
                  <a:srgbClr val="67E8F9"/>
                </a:solidFill>
                <a:latin typeface="Cambria" pitchFamily="34" charset="0"/>
                <a:ea typeface="Cambria" pitchFamily="34" charset="-122"/>
                <a:cs typeface="Cambria" pitchFamily="34" charset="-120"/>
              </a:rPr>
              <a:t>What we saw</a:t>
            </a:r>
            <a:endParaRPr lang="en-US" sz="1800" dirty="0"/>
          </a:p>
        </p:txBody>
      </p:sp>
      <p:sp>
        <p:nvSpPr>
          <p:cNvPr id="15" name="bb"/>
          <p:cNvSpPr txBox="1"/>
          <p:nvPr/>
        </p:nvSpPr>
        <p:spPr>
          <a:xfrm>
            <a:off x="8503920" y="1995462"/>
            <a:ext cx="2880360" cy="2549106"/>
          </a:xfrm>
          <a:prstGeom prst="rect">
            <a:avLst/>
          </a:prstGeom>
          <a:noFill/>
          <a:ln/>
        </p:spPr>
        <p:txBody>
          <a:bodyPr wrap="square" rtlCol="0" anchor="t"/>
          <a:lstStyle/>
          <a:p>
            <a:pPr marL="285750" lvl="0" indent="-285750">
              <a:buFont typeface="Arial" panose="020B0604020202020204" pitchFamily="34" charset="0"/>
              <a:buChar char="•"/>
            </a:pPr>
            <a:r>
              <a:rPr lang="en-IN" sz="1600" dirty="0">
                <a:solidFill>
                  <a:schemeClr val="bg1"/>
                </a:solidFill>
              </a:rPr>
              <a:t>Generator creates new faces from random noise.</a:t>
            </a:r>
          </a:p>
          <a:p>
            <a:pPr marL="285750" lvl="0" indent="-285750">
              <a:buFont typeface="Arial" panose="020B0604020202020204" pitchFamily="34" charset="0"/>
              <a:buChar char="•"/>
            </a:pPr>
            <a:r>
              <a:rPr lang="en-IN" sz="1600" dirty="0">
                <a:solidFill>
                  <a:schemeClr val="bg1"/>
                </a:solidFill>
              </a:rPr>
              <a:t>Some generated images contain colour noise and visual distortions.</a:t>
            </a:r>
          </a:p>
          <a:p>
            <a:pPr marL="285750" lvl="0" indent="-285750">
              <a:buFont typeface="Arial" panose="020B0604020202020204" pitchFamily="34" charset="0"/>
              <a:buChar char="•"/>
            </a:pPr>
            <a:r>
              <a:rPr lang="en-IN" sz="1600" dirty="0">
                <a:solidFill>
                  <a:schemeClr val="bg1"/>
                </a:solidFill>
              </a:rPr>
              <a:t>Discriminator loss was approximately 1.38, indicating a near-balanced adversarial loss pattern.</a:t>
            </a:r>
          </a:p>
          <a:p>
            <a:pPr marL="285750" lvl="0" indent="-285750">
              <a:buFont typeface="Arial" panose="020B0604020202020204" pitchFamily="34" charset="0"/>
              <a:buChar char="•"/>
            </a:pPr>
            <a:r>
              <a:rPr lang="en-IN" sz="1600" dirty="0">
                <a:solidFill>
                  <a:schemeClr val="bg1"/>
                </a:solidFill>
              </a:rPr>
              <a:t>Image quality was evaluated by visually inspecting the generated samples.</a:t>
            </a:r>
          </a:p>
        </p:txBody>
      </p:sp>
      <p:sp>
        <p:nvSpPr>
          <p:cNvPr id="16" name="bp"/>
          <p:cNvSpPr txBox="1"/>
          <p:nvPr/>
        </p:nvSpPr>
        <p:spPr>
          <a:xfrm>
            <a:off x="8549640" y="4969764"/>
            <a:ext cx="2926080" cy="960120"/>
          </a:xfrm>
          <a:prstGeom prst="rect">
            <a:avLst/>
          </a:prstGeom>
          <a:noFill/>
          <a:ln/>
        </p:spPr>
        <p:txBody>
          <a:bodyPr wrap="square" lIns="0" tIns="0" rIns="0" bIns="0" rtlCol="0" anchor="ctr"/>
          <a:lstStyle/>
          <a:p>
            <a:pPr marL="0" indent="0">
              <a:buNone/>
            </a:pPr>
            <a:r>
              <a:rPr lang="en-US" sz="1200" i="1" dirty="0">
                <a:solidFill>
                  <a:srgbClr val="A7ACC8"/>
                </a:solidFill>
              </a:rPr>
              <a:t>Prompt: "A realistic portrait photograph of a person, soft natural daylight, neutral background, high detail."</a:t>
            </a:r>
            <a:endParaRPr lang="en-US" sz="12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DCGAN costs the most; losses are not comparable</a:t>
            </a:r>
            <a:endParaRPr lang="en-US" sz="3400" dirty="0"/>
          </a:p>
        </p:txBody>
      </p:sp>
      <p:sp>
        <p:nvSpPr>
          <p:cNvPr id="3" name="chart-card"/>
          <p:cNvSpPr/>
          <p:nvPr/>
        </p:nvSpPr>
        <p:spPr>
          <a:xfrm>
            <a:off x="548640" y="1325880"/>
            <a:ext cx="6126480" cy="4846320"/>
          </a:xfrm>
          <a:prstGeom prst="roundRect">
            <a:avLst>
              <a:gd name="adj" fmla="val 2830"/>
            </a:avLst>
          </a:prstGeom>
          <a:solidFill>
            <a:srgbClr val="181C3A"/>
          </a:solidFill>
          <a:ln w="12700">
            <a:solidFill>
              <a:srgbClr val="181C3A"/>
            </a:solidFill>
            <a:prstDash val="solid"/>
          </a:ln>
        </p:spPr>
      </p:sp>
      <p:graphicFrame>
        <p:nvGraphicFramePr>
          <p:cNvPr id="4" name="chart-time"/>
          <p:cNvGraphicFramePr/>
          <p:nvPr/>
        </p:nvGraphicFramePr>
        <p:xfrm>
          <a:off x="731520" y="1463040"/>
          <a:ext cx="57607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x10"/>
          <p:cNvSpPr txBox="1"/>
          <p:nvPr/>
        </p:nvSpPr>
        <p:spPr>
          <a:xfrm>
            <a:off x="7040880" y="1371600"/>
            <a:ext cx="2194560" cy="731520"/>
          </a:xfrm>
          <a:prstGeom prst="rect">
            <a:avLst/>
          </a:prstGeom>
          <a:noFill/>
          <a:ln/>
        </p:spPr>
        <p:txBody>
          <a:bodyPr wrap="square" lIns="0" tIns="0" rIns="0" bIns="0" rtlCol="0" anchor="ctr"/>
          <a:lstStyle/>
          <a:p>
            <a:pPr marL="0" indent="0">
              <a:buNone/>
            </a:pPr>
            <a:r>
              <a:rPr lang="en-US" sz="4000" b="1" dirty="0">
                <a:solidFill>
                  <a:srgbClr val="FBBF24"/>
                </a:solidFill>
                <a:latin typeface="Cambria" pitchFamily="34" charset="0"/>
                <a:ea typeface="Cambria" pitchFamily="34" charset="-122"/>
                <a:cs typeface="Cambria" pitchFamily="34" charset="-120"/>
              </a:rPr>
              <a:t>10×+</a:t>
            </a:r>
            <a:endParaRPr lang="en-US" sz="4000" dirty="0"/>
          </a:p>
        </p:txBody>
      </p:sp>
      <p:sp>
        <p:nvSpPr>
          <p:cNvPr id="6" name="statl-x10"/>
          <p:cNvSpPr txBox="1"/>
          <p:nvPr/>
        </p:nvSpPr>
        <p:spPr>
          <a:xfrm>
            <a:off x="7040880" y="2103120"/>
            <a:ext cx="2194560" cy="411480"/>
          </a:xfrm>
          <a:prstGeom prst="rect">
            <a:avLst/>
          </a:prstGeom>
          <a:noFill/>
          <a:ln/>
        </p:spPr>
        <p:txBody>
          <a:bodyPr wrap="square" lIns="0" tIns="0" rIns="0" bIns="0" rtlCol="0" anchor="ctr"/>
          <a:lstStyle/>
          <a:p>
            <a:pPr marL="0" indent="0">
              <a:buNone/>
            </a:pPr>
            <a:r>
              <a:rPr lang="en-US" sz="1300" dirty="0">
                <a:solidFill>
                  <a:srgbClr val="A7ACC8"/>
                </a:solidFill>
              </a:rPr>
              <a:t>DCGAN vs AE/VAE time</a:t>
            </a:r>
            <a:endParaRPr lang="en-US" sz="1300" dirty="0"/>
          </a:p>
        </p:txBody>
      </p:sp>
      <p:sp>
        <p:nvSpPr>
          <p:cNvPr id="7" name="stat-nets"/>
          <p:cNvSpPr txBox="1"/>
          <p:nvPr/>
        </p:nvSpPr>
        <p:spPr>
          <a:xfrm>
            <a:off x="9418320" y="1371600"/>
            <a:ext cx="2194560" cy="731520"/>
          </a:xfrm>
          <a:prstGeom prst="rect">
            <a:avLst/>
          </a:prstGeom>
          <a:noFill/>
          <a:ln/>
        </p:spPr>
        <p:txBody>
          <a:bodyPr wrap="square" lIns="0" tIns="0" rIns="0" bIns="0" rtlCol="0" anchor="ctr"/>
          <a:lstStyle/>
          <a:p>
            <a:pPr marL="0" indent="0">
              <a:buNone/>
            </a:pPr>
            <a:r>
              <a:rPr lang="en-US" sz="4000" b="1" dirty="0">
                <a:solidFill>
                  <a:srgbClr val="22D3EE"/>
                </a:solidFill>
                <a:latin typeface="Cambria" pitchFamily="34" charset="0"/>
                <a:ea typeface="Cambria" pitchFamily="34" charset="-122"/>
                <a:cs typeface="Cambria" pitchFamily="34" charset="-120"/>
              </a:rPr>
              <a:t>2 nets</a:t>
            </a:r>
            <a:endParaRPr lang="en-US" sz="4000" dirty="0"/>
          </a:p>
        </p:txBody>
      </p:sp>
      <p:sp>
        <p:nvSpPr>
          <p:cNvPr id="8" name="statl-nets"/>
          <p:cNvSpPr txBox="1"/>
          <p:nvPr/>
        </p:nvSpPr>
        <p:spPr>
          <a:xfrm>
            <a:off x="9418320" y="2103120"/>
            <a:ext cx="2194560" cy="411480"/>
          </a:xfrm>
          <a:prstGeom prst="rect">
            <a:avLst/>
          </a:prstGeom>
          <a:noFill/>
          <a:ln/>
        </p:spPr>
        <p:txBody>
          <a:bodyPr wrap="square" lIns="0" tIns="0" rIns="0" bIns="0" rtlCol="0" anchor="ctr"/>
          <a:lstStyle/>
          <a:p>
            <a:pPr marL="0" indent="0">
              <a:buNone/>
            </a:pPr>
            <a:r>
              <a:rPr lang="en-US" sz="1300" dirty="0">
                <a:solidFill>
                  <a:srgbClr val="A7ACC8"/>
                </a:solidFill>
              </a:rPr>
              <a:t>trained every step</a:t>
            </a:r>
            <a:endParaRPr lang="en-US" sz="1300" dirty="0"/>
          </a:p>
        </p:txBody>
      </p:sp>
      <p:graphicFrame>
        <p:nvGraphicFramePr>
          <p:cNvPr id="9" name="loss-table"/>
          <p:cNvGraphicFramePr>
            <a:graphicFrameLocks noGrp="1"/>
          </p:cNvGraphicFramePr>
          <p:nvPr>
            <p:extLst>
              <p:ext uri="{D42A27DB-BD31-4B8C-83A1-F6EECF244321}">
                <p14:modId xmlns:p14="http://schemas.microsoft.com/office/powerpoint/2010/main" val="1579011935"/>
              </p:ext>
            </p:extLst>
          </p:nvPr>
        </p:nvGraphicFramePr>
        <p:xfrm>
          <a:off x="7040880" y="2743200"/>
          <a:ext cx="4617720" cy="2057400"/>
        </p:xfrm>
        <a:graphic>
          <a:graphicData uri="http://schemas.openxmlformats.org/drawingml/2006/table">
            <a:tbl>
              <a:tblPr/>
              <a:tblGrid>
                <a:gridCol w="1143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0E1124"/>
                          </a:solidFill>
                        </a:rPr>
                        <a:t>Model</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67E8F9"/>
                    </a:solidFill>
                  </a:tcPr>
                </a:tc>
                <a:tc>
                  <a:txBody>
                    <a:bodyPr/>
                    <a:lstStyle/>
                    <a:p>
                      <a:pPr marL="0" indent="0">
                        <a:buNone/>
                      </a:pPr>
                      <a:r>
                        <a:rPr lang="en-US" sz="1400" b="1" dirty="0">
                          <a:solidFill>
                            <a:srgbClr val="0E1124"/>
                          </a:solidFill>
                        </a:rPr>
                        <a:t>Loss and scale</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67E8F9"/>
                    </a:solidFill>
                  </a:tcPr>
                </a:tc>
                <a:tc>
                  <a:txBody>
                    <a:bodyPr/>
                    <a:lstStyle/>
                    <a:p>
                      <a:pPr marL="0" indent="0">
                        <a:buNone/>
                      </a:pPr>
                      <a:r>
                        <a:rPr lang="en-US" sz="1400" b="1" dirty="0">
                          <a:solidFill>
                            <a:srgbClr val="0E1124"/>
                          </a:solidFill>
                        </a:rPr>
                        <a:t>Final</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67E8F9"/>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rgbClr val="F5F6FB"/>
                          </a:solidFill>
                        </a:rPr>
                        <a:t>AE</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tc>
                  <a:txBody>
                    <a:bodyPr/>
                    <a:lstStyle/>
                    <a:p>
                      <a:pPr marL="0" indent="0">
                        <a:buNone/>
                      </a:pPr>
                      <a:r>
                        <a:rPr lang="en-US" sz="1400" dirty="0">
                          <a:solidFill>
                            <a:srgbClr val="F5F6FB"/>
                          </a:solidFill>
                        </a:rPr>
                        <a:t>MSE, averaged per pixel</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tc>
                  <a:txBody>
                    <a:bodyPr/>
                    <a:lstStyle/>
                    <a:p>
                      <a:pPr marL="0" indent="0">
                        <a:buNone/>
                      </a:pPr>
                      <a:r>
                        <a:rPr lang="en-US" sz="1400" dirty="0">
                          <a:solidFill>
                            <a:srgbClr val="F5F6FB"/>
                          </a:solidFill>
                        </a:rPr>
                        <a:t>0.0144</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extLst>
                  <a:ext uri="{0D108BD9-81ED-4DB2-BD59-A6C34878D82A}">
                    <a16:rowId xmlns:a16="http://schemas.microsoft.com/office/drawing/2014/main" val="10001"/>
                  </a:ext>
                </a:extLst>
              </a:tr>
              <a:tr h="411480">
                <a:tc>
                  <a:txBody>
                    <a:bodyPr/>
                    <a:lstStyle/>
                    <a:p>
                      <a:pPr marL="0" indent="0">
                        <a:buNone/>
                      </a:pPr>
                      <a:r>
                        <a:rPr lang="en-US" sz="1400" b="1" dirty="0">
                          <a:solidFill>
                            <a:srgbClr val="F5F6FB"/>
                          </a:solidFill>
                        </a:rPr>
                        <a:t>VAE</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tc>
                  <a:txBody>
                    <a:bodyPr/>
                    <a:lstStyle/>
                    <a:p>
                      <a:pPr marL="0" indent="0">
                        <a:buNone/>
                      </a:pPr>
                      <a:r>
                        <a:rPr lang="en-US" sz="1400" dirty="0">
                          <a:solidFill>
                            <a:srgbClr val="F5F6FB"/>
                          </a:solidFill>
                        </a:rPr>
                        <a:t>BCE + KL, summed</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tc>
                  <a:txBody>
                    <a:bodyPr/>
                    <a:lstStyle/>
                    <a:p>
                      <a:pPr marL="0" indent="0">
                        <a:buNone/>
                      </a:pPr>
                      <a:r>
                        <a:rPr lang="en-US" sz="1400" dirty="0">
                          <a:solidFill>
                            <a:srgbClr val="F5F6FB"/>
                          </a:solidFill>
                        </a:rPr>
                        <a:t>6,772.4</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extLst>
                  <a:ext uri="{0D108BD9-81ED-4DB2-BD59-A6C34878D82A}">
                    <a16:rowId xmlns:a16="http://schemas.microsoft.com/office/drawing/2014/main" val="10002"/>
                  </a:ext>
                </a:extLst>
              </a:tr>
              <a:tr h="411480">
                <a:tc>
                  <a:txBody>
                    <a:bodyPr/>
                    <a:lstStyle/>
                    <a:p>
                      <a:pPr marL="0" indent="0">
                        <a:buNone/>
                      </a:pPr>
                      <a:r>
                        <a:rPr lang="en-US" sz="1400" b="1" dirty="0">
                          <a:solidFill>
                            <a:srgbClr val="F5F6FB"/>
                          </a:solidFill>
                        </a:rPr>
                        <a:t>DCGAN</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tc>
                  <a:txBody>
                    <a:bodyPr/>
                    <a:lstStyle/>
                    <a:p>
                      <a:pPr marL="0" indent="0">
                        <a:buNone/>
                      </a:pPr>
                      <a:r>
                        <a:rPr lang="en-US" sz="1400" dirty="0">
                          <a:solidFill>
                            <a:srgbClr val="F5F6FB"/>
                          </a:solidFill>
                        </a:rPr>
                        <a:t>Adversarial BCE</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tc>
                  <a:txBody>
                    <a:bodyPr/>
                    <a:lstStyle/>
                    <a:p>
                      <a:pPr marL="0" indent="0">
                        <a:buNone/>
                      </a:pPr>
                      <a:r>
                        <a:rPr lang="en-US" sz="1400" dirty="0">
                          <a:solidFill>
                            <a:srgbClr val="F5F6FB"/>
                          </a:solidFill>
                        </a:rPr>
                        <a:t>G 0.79 / D 1.38</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extLst>
                  <a:ext uri="{0D108BD9-81ED-4DB2-BD59-A6C34878D82A}">
                    <a16:rowId xmlns:a16="http://schemas.microsoft.com/office/drawing/2014/main" val="10003"/>
                  </a:ext>
                </a:extLst>
              </a:tr>
              <a:tr h="411480">
                <a:tc>
                  <a:txBody>
                    <a:bodyPr/>
                    <a:lstStyle/>
                    <a:p>
                      <a:pPr marL="0" indent="0">
                        <a:buNone/>
                      </a:pPr>
                      <a:r>
                        <a:rPr lang="en-US" sz="1400" b="1" dirty="0">
                          <a:solidFill>
                            <a:srgbClr val="F5F6FB"/>
                          </a:solidFill>
                        </a:rPr>
                        <a:t>Diffusion</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tc>
                  <a:txBody>
                    <a:bodyPr/>
                    <a:lstStyle/>
                    <a:p>
                      <a:pPr marL="0" indent="0">
                        <a:buNone/>
                      </a:pPr>
                      <a:r>
                        <a:rPr lang="en-US" sz="1400" dirty="0">
                          <a:solidFill>
                            <a:srgbClr val="F5F6FB"/>
                          </a:solidFill>
                        </a:rPr>
                        <a:t>Pretrained</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tc>
                  <a:txBody>
                    <a:bodyPr/>
                    <a:lstStyle/>
                    <a:p>
                      <a:pPr marL="0" indent="0">
                        <a:buNone/>
                      </a:pPr>
                      <a:r>
                        <a:rPr lang="en-US" sz="1400" dirty="0">
                          <a:solidFill>
                            <a:srgbClr val="F5F6FB"/>
                          </a:solidFill>
                        </a:rPr>
                        <a:t>—</a:t>
                      </a:r>
                      <a:endParaRPr lang="en-US" sz="1400" dirty="0"/>
                    </a:p>
                  </a:txBody>
                  <a:tcPr anchor="ctr">
                    <a:lnL w="9525" cap="flat" cmpd="sng" algn="ctr">
                      <a:solidFill>
                        <a:srgbClr val="2F3563"/>
                      </a:solidFill>
                      <a:prstDash val="solid"/>
                      <a:round/>
                      <a:headEnd type="none" w="med" len="med"/>
                      <a:tailEnd type="none" w="med" len="med"/>
                    </a:lnL>
                    <a:lnR w="9525" cap="flat" cmpd="sng" algn="ctr">
                      <a:solidFill>
                        <a:srgbClr val="2F3563"/>
                      </a:solidFill>
                      <a:prstDash val="solid"/>
                      <a:round/>
                      <a:headEnd type="none" w="med" len="med"/>
                      <a:tailEnd type="none" w="med" len="med"/>
                    </a:lnR>
                    <a:lnT w="9525" cap="flat" cmpd="sng" algn="ctr">
                      <a:solidFill>
                        <a:srgbClr val="2F3563"/>
                      </a:solidFill>
                      <a:prstDash val="solid"/>
                      <a:round/>
                      <a:headEnd type="none" w="med" len="med"/>
                      <a:tailEnd type="none" w="med" len="med"/>
                    </a:lnT>
                    <a:lnB w="9525" cap="flat" cmpd="sng" algn="ctr">
                      <a:solidFill>
                        <a:srgbClr val="2F3563"/>
                      </a:solidFill>
                      <a:prstDash val="solid"/>
                      <a:round/>
                      <a:headEnd type="none" w="med" len="med"/>
                      <a:tailEnd type="none" w="med" len="med"/>
                    </a:lnB>
                    <a:solidFill>
                      <a:srgbClr val="181C3A"/>
                    </a:solidFill>
                  </a:tcPr>
                </a:tc>
                <a:extLst>
                  <a:ext uri="{0D108BD9-81ED-4DB2-BD59-A6C34878D82A}">
                    <a16:rowId xmlns:a16="http://schemas.microsoft.com/office/drawing/2014/main" val="10004"/>
                  </a:ext>
                </a:extLst>
              </a:tr>
            </a:tbl>
          </a:graphicData>
        </a:graphic>
      </p:graphicFrame>
      <p:sp>
        <p:nvSpPr>
          <p:cNvPr id="10" name="loss-note"/>
          <p:cNvSpPr txBox="1"/>
          <p:nvPr/>
        </p:nvSpPr>
        <p:spPr>
          <a:xfrm>
            <a:off x="7040880" y="4983480"/>
            <a:ext cx="4617720" cy="731520"/>
          </a:xfrm>
          <a:prstGeom prst="rect">
            <a:avLst/>
          </a:prstGeom>
          <a:noFill/>
          <a:ln/>
        </p:spPr>
        <p:txBody>
          <a:bodyPr wrap="square" lIns="0" tIns="0" rIns="0" bIns="0" rtlCol="0" anchor="ctr"/>
          <a:lstStyle/>
          <a:p>
            <a:pPr marL="0" indent="0">
              <a:buNone/>
            </a:pPr>
            <a:r>
              <a:rPr lang="en-US" sz="1500" i="1" dirty="0">
                <a:solidFill>
                  <a:srgbClr val="C4B5FD"/>
                </a:solidFill>
              </a:rPr>
              <a:t>Different loss functions, different scales: compare the images, not the numbers.</a:t>
            </a:r>
            <a:endParaRPr lang="en-US" sz="15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What we learned and how we used AI</a:t>
            </a:r>
            <a:endParaRPr lang="en-US" sz="3400" dirty="0"/>
          </a:p>
        </p:txBody>
      </p:sp>
      <p:sp>
        <p:nvSpPr>
          <p:cNvPr id="3" name="rc-0"/>
          <p:cNvSpPr/>
          <p:nvPr/>
        </p:nvSpPr>
        <p:spPr>
          <a:xfrm>
            <a:off x="548640" y="1325880"/>
            <a:ext cx="3566160" cy="3886200"/>
          </a:xfrm>
          <a:prstGeom prst="roundRect">
            <a:avLst>
              <a:gd name="adj" fmla="val 3846"/>
            </a:avLst>
          </a:prstGeom>
          <a:solidFill>
            <a:srgbClr val="181C3A"/>
          </a:solidFill>
          <a:ln w="12700">
            <a:solidFill>
              <a:srgbClr val="181C3A"/>
            </a:solidFill>
            <a:prstDash val="solid"/>
          </a:ln>
        </p:spPr>
      </p:sp>
      <p:sp>
        <p:nvSpPr>
          <p:cNvPr id="4" name="rb-0-c"/>
          <p:cNvSpPr/>
          <p:nvPr/>
        </p:nvSpPr>
        <p:spPr>
          <a:xfrm>
            <a:off x="822960" y="1554480"/>
            <a:ext cx="640080" cy="640080"/>
          </a:xfrm>
          <a:prstGeom prst="ellipse">
            <a:avLst/>
          </a:prstGeom>
          <a:solidFill>
            <a:srgbClr val="8B5CF6"/>
          </a:solidFill>
          <a:ln w="12700">
            <a:solidFill>
              <a:srgbClr val="8B5CF6"/>
            </a:solidFill>
            <a:prstDash val="solid"/>
          </a:ln>
        </p:spPr>
      </p:sp>
      <p:pic>
        <p:nvPicPr>
          <p:cNvPr id="5" name="rb-0-i" descr="preencoded.png"/>
          <p:cNvPicPr>
            <a:picLocks noChangeAspect="1"/>
          </p:cNvPicPr>
          <p:nvPr/>
        </p:nvPicPr>
        <p:blipFill>
          <a:blip r:embed="rId3"/>
          <a:stretch>
            <a:fillRect/>
          </a:stretch>
        </p:blipFill>
        <p:spPr>
          <a:xfrm>
            <a:off x="976579" y="1708099"/>
            <a:ext cx="332842" cy="332842"/>
          </a:xfrm>
          <a:prstGeom prst="rect">
            <a:avLst/>
          </a:prstGeom>
        </p:spPr>
      </p:pic>
      <p:sp>
        <p:nvSpPr>
          <p:cNvPr id="6" name="rh-0"/>
          <p:cNvSpPr txBox="1"/>
          <p:nvPr/>
        </p:nvSpPr>
        <p:spPr>
          <a:xfrm>
            <a:off x="1600200" y="1554480"/>
            <a:ext cx="2377440" cy="640080"/>
          </a:xfrm>
          <a:prstGeom prst="rect">
            <a:avLst/>
          </a:prstGeom>
          <a:noFill/>
          <a:ln/>
        </p:spPr>
        <p:txBody>
          <a:bodyPr wrap="square" lIns="0" tIns="0" rIns="0" bIns="0" rtlCol="0" anchor="ctr"/>
          <a:lstStyle/>
          <a:p>
            <a:pPr marL="0" indent="0">
              <a:buNone/>
            </a:pPr>
            <a:r>
              <a:rPr lang="en-US" sz="1800" b="1" dirty="0">
                <a:solidFill>
                  <a:srgbClr val="F5F6FB"/>
                </a:solidFill>
                <a:latin typeface="Cambria" pitchFamily="34" charset="0"/>
                <a:ea typeface="Cambria" pitchFamily="34" charset="-122"/>
                <a:cs typeface="Cambria" pitchFamily="34" charset="-120"/>
              </a:rPr>
              <a:t>AI usage and verification</a:t>
            </a:r>
            <a:endParaRPr lang="en-US" sz="1800" dirty="0"/>
          </a:p>
        </p:txBody>
      </p:sp>
      <p:sp>
        <p:nvSpPr>
          <p:cNvPr id="7" name="rt-0"/>
          <p:cNvSpPr txBox="1"/>
          <p:nvPr/>
        </p:nvSpPr>
        <p:spPr>
          <a:xfrm>
            <a:off x="777240" y="2377440"/>
            <a:ext cx="3154680" cy="2697480"/>
          </a:xfrm>
          <a:prstGeom prst="rect">
            <a:avLst/>
          </a:prstGeom>
          <a:noFill/>
          <a:ln/>
        </p:spPr>
        <p:txBody>
          <a:bodyPr wrap="square" rtlCol="0" anchor="t"/>
          <a:lstStyle/>
          <a:p>
            <a:pPr marL="342900" indent="-342900">
              <a:spcAft>
                <a:spcPts val="900"/>
              </a:spcAft>
              <a:buSzPct val="100000"/>
              <a:buChar char="•"/>
            </a:pPr>
            <a:r>
              <a:rPr lang="en-US" sz="1500" dirty="0">
                <a:solidFill>
                  <a:srgbClr val="F5F6FB"/>
                </a:solidFill>
              </a:rPr>
              <a:t>Claude for concepts, code explanation, the comparison table and the report</a:t>
            </a:r>
            <a:endParaRPr lang="en-US" sz="1500" dirty="0"/>
          </a:p>
          <a:p>
            <a:pPr marL="342900" indent="-342900">
              <a:spcAft>
                <a:spcPts val="900"/>
              </a:spcAft>
              <a:buSzPct val="100000"/>
              <a:buChar char="•"/>
            </a:pPr>
            <a:r>
              <a:rPr lang="en-US" sz="1500" dirty="0">
                <a:solidFill>
                  <a:srgbClr val="F5F6FB"/>
                </a:solidFill>
              </a:rPr>
              <a:t>Every number checked against the notebook output</a:t>
            </a:r>
            <a:endParaRPr lang="en-US" sz="1500" dirty="0"/>
          </a:p>
          <a:p>
            <a:pPr marL="342900" indent="-342900">
              <a:spcAft>
                <a:spcPts val="900"/>
              </a:spcAft>
              <a:buSzPct val="100000"/>
              <a:buChar char="•"/>
            </a:pPr>
            <a:r>
              <a:rPr lang="en-US" sz="1500" dirty="0">
                <a:solidFill>
                  <a:srgbClr val="F5F6FB"/>
                </a:solidFill>
              </a:rPr>
              <a:t>Theory cross-checked with original papers and docs</a:t>
            </a:r>
            <a:endParaRPr lang="en-US" sz="1500" dirty="0"/>
          </a:p>
        </p:txBody>
      </p:sp>
      <p:sp>
        <p:nvSpPr>
          <p:cNvPr id="8" name="rc-1"/>
          <p:cNvSpPr/>
          <p:nvPr/>
        </p:nvSpPr>
        <p:spPr>
          <a:xfrm>
            <a:off x="4343400" y="1325880"/>
            <a:ext cx="3566160" cy="3886200"/>
          </a:xfrm>
          <a:prstGeom prst="roundRect">
            <a:avLst>
              <a:gd name="adj" fmla="val 3846"/>
            </a:avLst>
          </a:prstGeom>
          <a:solidFill>
            <a:srgbClr val="181C3A"/>
          </a:solidFill>
          <a:ln w="12700">
            <a:solidFill>
              <a:srgbClr val="181C3A"/>
            </a:solidFill>
            <a:prstDash val="solid"/>
          </a:ln>
        </p:spPr>
      </p:sp>
      <p:sp>
        <p:nvSpPr>
          <p:cNvPr id="9" name="rb-1-c"/>
          <p:cNvSpPr/>
          <p:nvPr/>
        </p:nvSpPr>
        <p:spPr>
          <a:xfrm>
            <a:off x="4617720" y="1554480"/>
            <a:ext cx="640080" cy="640080"/>
          </a:xfrm>
          <a:prstGeom prst="ellipse">
            <a:avLst/>
          </a:prstGeom>
          <a:solidFill>
            <a:srgbClr val="FBBF24"/>
          </a:solidFill>
          <a:ln w="12700">
            <a:solidFill>
              <a:srgbClr val="FBBF24"/>
            </a:solidFill>
            <a:prstDash val="solid"/>
          </a:ln>
        </p:spPr>
      </p:sp>
      <p:pic>
        <p:nvPicPr>
          <p:cNvPr id="10" name="rb-1-i" descr="preencoded.png"/>
          <p:cNvPicPr>
            <a:picLocks noChangeAspect="1"/>
          </p:cNvPicPr>
          <p:nvPr/>
        </p:nvPicPr>
        <p:blipFill>
          <a:blip r:embed="rId4"/>
          <a:stretch>
            <a:fillRect/>
          </a:stretch>
        </p:blipFill>
        <p:spPr>
          <a:xfrm>
            <a:off x="4771339" y="1708099"/>
            <a:ext cx="332842" cy="332842"/>
          </a:xfrm>
          <a:prstGeom prst="rect">
            <a:avLst/>
          </a:prstGeom>
        </p:spPr>
      </p:pic>
      <p:sp>
        <p:nvSpPr>
          <p:cNvPr id="11" name="rh-1"/>
          <p:cNvSpPr txBox="1"/>
          <p:nvPr/>
        </p:nvSpPr>
        <p:spPr>
          <a:xfrm>
            <a:off x="5394960" y="1554480"/>
            <a:ext cx="2377440" cy="640080"/>
          </a:xfrm>
          <a:prstGeom prst="rect">
            <a:avLst/>
          </a:prstGeom>
          <a:noFill/>
          <a:ln/>
        </p:spPr>
        <p:txBody>
          <a:bodyPr wrap="square" lIns="0" tIns="0" rIns="0" bIns="0" rtlCol="0" anchor="ctr"/>
          <a:lstStyle/>
          <a:p>
            <a:pPr marL="0" indent="0">
              <a:buNone/>
            </a:pPr>
            <a:r>
              <a:rPr lang="en-US" sz="1800" b="1" dirty="0">
                <a:solidFill>
                  <a:srgbClr val="F5F6FB"/>
                </a:solidFill>
                <a:latin typeface="Cambria" pitchFamily="34" charset="0"/>
                <a:ea typeface="Cambria" pitchFamily="34" charset="-122"/>
                <a:cs typeface="Cambria" pitchFamily="34" charset="-120"/>
              </a:rPr>
              <a:t>Key learning</a:t>
            </a:r>
            <a:endParaRPr lang="en-US" sz="1800" dirty="0"/>
          </a:p>
        </p:txBody>
      </p:sp>
      <p:sp>
        <p:nvSpPr>
          <p:cNvPr id="12" name="rt-1"/>
          <p:cNvSpPr txBox="1"/>
          <p:nvPr/>
        </p:nvSpPr>
        <p:spPr>
          <a:xfrm>
            <a:off x="4572000" y="2377440"/>
            <a:ext cx="2863970" cy="2004779"/>
          </a:xfrm>
          <a:prstGeom prst="rect">
            <a:avLst/>
          </a:prstGeom>
          <a:noFill/>
          <a:ln/>
        </p:spPr>
        <p:txBody>
          <a:bodyPr wrap="square" rtlCol="0" anchor="t"/>
          <a:lstStyle/>
          <a:p>
            <a:pPr marL="285750" lvl="0" indent="-285750">
              <a:buFont typeface="Arial" panose="020B0604020202020204" pitchFamily="34" charset="0"/>
              <a:buChar char="•"/>
            </a:pPr>
            <a:r>
              <a:rPr lang="en-IN" sz="1400" dirty="0">
                <a:solidFill>
                  <a:schemeClr val="bg1"/>
                </a:solidFill>
              </a:rPr>
              <a:t>AE vs VAE: Reconstruction detail vs organised latent space.</a:t>
            </a:r>
          </a:p>
          <a:p>
            <a:pPr marL="285750" lvl="0" indent="-285750">
              <a:buFont typeface="Arial" panose="020B0604020202020204" pitchFamily="34" charset="0"/>
              <a:buChar char="•"/>
            </a:pPr>
            <a:endParaRPr lang="en-IN" sz="1400" dirty="0">
              <a:solidFill>
                <a:schemeClr val="bg1"/>
              </a:solidFill>
            </a:endParaRPr>
          </a:p>
          <a:p>
            <a:pPr marL="285750" lvl="0" indent="-285750">
              <a:buFont typeface="Arial" panose="020B0604020202020204" pitchFamily="34" charset="0"/>
              <a:buChar char="•"/>
            </a:pPr>
            <a:r>
              <a:rPr lang="en-IN" sz="1400" dirty="0">
                <a:solidFill>
                  <a:schemeClr val="bg1"/>
                </a:solidFill>
              </a:rPr>
              <a:t>GAN: Loss values alone do not indicate image quality.</a:t>
            </a:r>
          </a:p>
          <a:p>
            <a:pPr marL="285750" lvl="0" indent="-285750">
              <a:buFont typeface="Arial" panose="020B0604020202020204" pitchFamily="34" charset="0"/>
              <a:buChar char="•"/>
            </a:pPr>
            <a:endParaRPr lang="en-IN" sz="1400" dirty="0">
              <a:solidFill>
                <a:schemeClr val="bg1"/>
              </a:solidFill>
            </a:endParaRPr>
          </a:p>
          <a:p>
            <a:pPr marL="285750" lvl="0" indent="-285750">
              <a:buFont typeface="Arial" panose="020B0604020202020204" pitchFamily="34" charset="0"/>
              <a:buChar char="•"/>
            </a:pPr>
            <a:r>
              <a:rPr lang="en-IN" sz="1400" dirty="0">
                <a:solidFill>
                  <a:schemeClr val="bg1"/>
                </a:solidFill>
              </a:rPr>
              <a:t>Diffusion: High-quality, prompt-guided image generation.</a:t>
            </a:r>
          </a:p>
          <a:p>
            <a:pPr marL="285750" lvl="0" indent="-285750">
              <a:buFont typeface="Arial" panose="020B0604020202020204" pitchFamily="34" charset="0"/>
              <a:buChar char="•"/>
            </a:pPr>
            <a:endParaRPr lang="en-IN" sz="1400" dirty="0">
              <a:solidFill>
                <a:schemeClr val="bg1"/>
              </a:solidFill>
            </a:endParaRPr>
          </a:p>
          <a:p>
            <a:pPr marL="285750" lvl="0" indent="-285750">
              <a:buFont typeface="Arial" panose="020B0604020202020204" pitchFamily="34" charset="0"/>
              <a:buChar char="•"/>
            </a:pPr>
            <a:r>
              <a:rPr lang="en-IN" sz="1400" dirty="0">
                <a:solidFill>
                  <a:schemeClr val="bg1"/>
                </a:solidFill>
              </a:rPr>
              <a:t>Important: Training time and inference time are different.</a:t>
            </a:r>
          </a:p>
        </p:txBody>
      </p:sp>
      <p:sp>
        <p:nvSpPr>
          <p:cNvPr id="13" name="rc-2"/>
          <p:cNvSpPr/>
          <p:nvPr/>
        </p:nvSpPr>
        <p:spPr>
          <a:xfrm>
            <a:off x="8138160" y="1325880"/>
            <a:ext cx="3566160" cy="3886200"/>
          </a:xfrm>
          <a:prstGeom prst="roundRect">
            <a:avLst>
              <a:gd name="adj" fmla="val 3846"/>
            </a:avLst>
          </a:prstGeom>
          <a:solidFill>
            <a:srgbClr val="181C3A"/>
          </a:solidFill>
          <a:ln w="12700">
            <a:solidFill>
              <a:srgbClr val="181C3A"/>
            </a:solidFill>
            <a:prstDash val="solid"/>
          </a:ln>
        </p:spPr>
      </p:sp>
      <p:sp>
        <p:nvSpPr>
          <p:cNvPr id="14" name="rb-2-c"/>
          <p:cNvSpPr/>
          <p:nvPr/>
        </p:nvSpPr>
        <p:spPr>
          <a:xfrm>
            <a:off x="8412480" y="1554480"/>
            <a:ext cx="640080" cy="640080"/>
          </a:xfrm>
          <a:prstGeom prst="ellipse">
            <a:avLst/>
          </a:prstGeom>
          <a:solidFill>
            <a:srgbClr val="22D3EE"/>
          </a:solidFill>
          <a:ln w="12700">
            <a:solidFill>
              <a:srgbClr val="22D3EE"/>
            </a:solidFill>
            <a:prstDash val="solid"/>
          </a:ln>
        </p:spPr>
      </p:sp>
      <p:pic>
        <p:nvPicPr>
          <p:cNvPr id="15" name="rb-2-i" descr="preencoded.png"/>
          <p:cNvPicPr>
            <a:picLocks noChangeAspect="1"/>
          </p:cNvPicPr>
          <p:nvPr/>
        </p:nvPicPr>
        <p:blipFill>
          <a:blip r:embed="rId5"/>
          <a:stretch>
            <a:fillRect/>
          </a:stretch>
        </p:blipFill>
        <p:spPr>
          <a:xfrm>
            <a:off x="8566099" y="1708099"/>
            <a:ext cx="332842" cy="332842"/>
          </a:xfrm>
          <a:prstGeom prst="rect">
            <a:avLst/>
          </a:prstGeom>
        </p:spPr>
      </p:pic>
      <p:sp>
        <p:nvSpPr>
          <p:cNvPr id="16" name="rh-2"/>
          <p:cNvSpPr txBox="1"/>
          <p:nvPr/>
        </p:nvSpPr>
        <p:spPr>
          <a:xfrm>
            <a:off x="9189720" y="1554480"/>
            <a:ext cx="2377440" cy="640080"/>
          </a:xfrm>
          <a:prstGeom prst="rect">
            <a:avLst/>
          </a:prstGeom>
          <a:noFill/>
          <a:ln/>
        </p:spPr>
        <p:txBody>
          <a:bodyPr wrap="square" lIns="0" tIns="0" rIns="0" bIns="0" rtlCol="0" anchor="ctr"/>
          <a:lstStyle/>
          <a:p>
            <a:pPr marL="0" indent="0">
              <a:buNone/>
            </a:pPr>
            <a:r>
              <a:rPr lang="en-US" sz="1800" b="1" dirty="0">
                <a:solidFill>
                  <a:srgbClr val="F5F6FB"/>
                </a:solidFill>
                <a:latin typeface="Cambria" pitchFamily="34" charset="0"/>
                <a:ea typeface="Cambria" pitchFamily="34" charset="-122"/>
                <a:cs typeface="Cambria" pitchFamily="34" charset="-120"/>
              </a:rPr>
              <a:t>Contributions</a:t>
            </a:r>
            <a:endParaRPr lang="en-US" sz="1800" dirty="0"/>
          </a:p>
        </p:txBody>
      </p:sp>
      <p:sp>
        <p:nvSpPr>
          <p:cNvPr id="17" name="rt-2"/>
          <p:cNvSpPr txBox="1"/>
          <p:nvPr/>
        </p:nvSpPr>
        <p:spPr>
          <a:xfrm>
            <a:off x="8366760" y="2377440"/>
            <a:ext cx="3154680" cy="2697480"/>
          </a:xfrm>
          <a:prstGeom prst="rect">
            <a:avLst/>
          </a:prstGeom>
          <a:noFill/>
          <a:ln/>
        </p:spPr>
        <p:txBody>
          <a:bodyPr wrap="square" rtlCol="0" anchor="t"/>
          <a:lstStyle/>
          <a:p>
            <a:pPr marL="342900" indent="-342900">
              <a:spcAft>
                <a:spcPts val="900"/>
              </a:spcAft>
              <a:buSzPct val="100000"/>
              <a:buChar char="•"/>
            </a:pPr>
            <a:r>
              <a:rPr lang="en-US" sz="1500" dirty="0">
                <a:solidFill>
                  <a:srgbClr val="F5F6FB"/>
                </a:solidFill>
              </a:rPr>
              <a:t>Sanika ,Tanishka : AE and VAE experiments</a:t>
            </a:r>
            <a:endParaRPr lang="en-US" sz="1500" dirty="0"/>
          </a:p>
          <a:p>
            <a:pPr marL="342900" indent="-342900">
              <a:spcAft>
                <a:spcPts val="900"/>
              </a:spcAft>
              <a:buSzPct val="100000"/>
              <a:buChar char="•"/>
            </a:pPr>
            <a:r>
              <a:rPr lang="en-US" sz="1500" dirty="0">
                <a:solidFill>
                  <a:srgbClr val="F5F6FB"/>
                </a:solidFill>
              </a:rPr>
              <a:t>Tanishka  , Amruta : DCGAN and diffusion experiments</a:t>
            </a:r>
            <a:endParaRPr lang="en-US" sz="1500" dirty="0"/>
          </a:p>
          <a:p>
            <a:pPr marL="342900" indent="-342900">
              <a:spcAft>
                <a:spcPts val="900"/>
              </a:spcAft>
              <a:buSzPct val="100000"/>
              <a:buChar char="•"/>
            </a:pPr>
            <a:r>
              <a:rPr lang="en-US" sz="1500" dirty="0">
                <a:solidFill>
                  <a:srgbClr val="F5F6FB"/>
                </a:solidFill>
              </a:rPr>
              <a:t>Amruta ,Sanika: comparison, AI documentation, report and PPT</a:t>
            </a:r>
            <a:endParaRPr lang="en-US" sz="1500" dirty="0"/>
          </a:p>
        </p:txBody>
      </p:sp>
      <p:sp>
        <p:nvSpPr>
          <p:cNvPr id="18" name="concl"/>
          <p:cNvSpPr/>
          <p:nvPr/>
        </p:nvSpPr>
        <p:spPr>
          <a:xfrm>
            <a:off x="548640" y="5440680"/>
            <a:ext cx="11109960" cy="777240"/>
          </a:xfrm>
          <a:prstGeom prst="roundRect">
            <a:avLst>
              <a:gd name="adj" fmla="val 17647"/>
            </a:avLst>
          </a:prstGeom>
          <a:solidFill>
            <a:srgbClr val="8B5CF6"/>
          </a:solidFill>
          <a:ln w="12700">
            <a:solidFill>
              <a:srgbClr val="8B5CF6"/>
            </a:solidFill>
            <a:prstDash val="solid"/>
          </a:ln>
        </p:spPr>
      </p:sp>
      <p:sp>
        <p:nvSpPr>
          <p:cNvPr id="19" name="concl-t"/>
          <p:cNvSpPr txBox="1"/>
          <p:nvPr/>
        </p:nvSpPr>
        <p:spPr>
          <a:xfrm>
            <a:off x="822960" y="5440680"/>
            <a:ext cx="10607040" cy="777240"/>
          </a:xfrm>
          <a:prstGeom prst="rect">
            <a:avLst/>
          </a:prstGeom>
          <a:noFill/>
          <a:ln/>
        </p:spPr>
        <p:txBody>
          <a:bodyPr wrap="square" lIns="0" tIns="0" rIns="0" bIns="0" rtlCol="0" anchor="ctr"/>
          <a:lstStyle/>
          <a:p>
            <a:pPr marL="0" indent="0">
              <a:buNone/>
            </a:pPr>
            <a:r>
              <a:rPr lang="en-US" sz="1600" b="1" dirty="0">
                <a:solidFill>
                  <a:srgbClr val="F5F6FB"/>
                </a:solidFill>
              </a:rPr>
              <a:t>Conclusion  </a:t>
            </a:r>
            <a:r>
              <a:rPr lang="en-US" sz="1600" dirty="0">
                <a:solidFill>
                  <a:srgbClr val="F5F6FB"/>
                </a:solidFill>
              </a:rPr>
              <a:t>AE/VAE for reconstruction · DCGAN for dataset-specific generation · Diffusion for the best quality at the highest cost</a:t>
            </a:r>
            <a:endParaRPr lang="en-US" sz="16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GenAI Night">
  <a:themeElements>
    <a:clrScheme name="GenAI Night">
      <a:dk1>
        <a:srgbClr val="0E1124"/>
      </a:dk1>
      <a:lt1>
        <a:srgbClr val="F5F6FB"/>
      </a:lt1>
      <a:dk2>
        <a:srgbClr val="181C3A"/>
      </a:dk2>
      <a:lt2>
        <a:srgbClr val="A7ACC8"/>
      </a:lt2>
      <a:accent1>
        <a:srgbClr val="8B5CF6"/>
      </a:accent1>
      <a:accent2>
        <a:srgbClr val="22D3EE"/>
      </a:accent2>
      <a:accent3>
        <a:srgbClr val="FBBF24"/>
      </a:accent3>
      <a:accent4>
        <a:srgbClr val="262B52"/>
      </a:accent4>
      <a:accent5>
        <a:srgbClr val="C4B5FD"/>
      </a:accent5>
      <a:accent6>
        <a:srgbClr val="67E8F9"/>
      </a:accent6>
      <a:hlink>
        <a:srgbClr val="22D3EE"/>
      </a:hlink>
      <a:folHlink>
        <a:srgbClr val="C4B5FD"/>
      </a:folHlink>
    </a:clrScheme>
    <a:fontScheme name="GenAI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1239</Words>
  <Application>Microsoft Office PowerPoint</Application>
  <PresentationFormat>Widescreen</PresentationFormat>
  <Paragraphs>148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GenAI Night</vt:lpstr>
      <vt:lpstr>PowerPoint Presentation</vt:lpstr>
      <vt:lpstr>Four models, two jobs</vt:lpstr>
      <vt:lpstr>Inside each model</vt:lpstr>
      <vt:lpstr>Activity A: AE keeps more detail than VAE</vt:lpstr>
      <vt:lpstr>Activity B: Pretrained Diffusion Produces More Realistic Images in Our Experiment</vt:lpstr>
      <vt:lpstr>DCGAN costs the most; losses are not comparable</vt:lpstr>
      <vt:lpstr>What we learned and how we used AI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02 – Generative AI Models</dc:title>
  <dc:subject>PptxGenJS Presentation</dc:subject>
  <dc:creator>PptxGenJS</dc:creator>
  <cp:lastModifiedBy>Sanika Mane</cp:lastModifiedBy>
  <cp:revision>3</cp:revision>
  <dcterms:created xsi:type="dcterms:W3CDTF">2026-10-30T08:46:00Z</dcterms:created>
  <dcterms:modified xsi:type="dcterms:W3CDTF">2026-10-30T09:18:36Z</dcterms:modified>
</cp:coreProperties>
</file>